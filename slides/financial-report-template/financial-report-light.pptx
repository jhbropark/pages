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8.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19.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0.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5.xml" ContentType="application/vnd.openxmlformats-officedocument.drawingml.chart+xml"/>
  <Override PartName="/ppt/charts/chart2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8.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9.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0.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1.xml" ContentType="application/vnd.openxmlformats-officedocument.drawingml.chart+xml"/>
  <Override PartName="/ppt/charts/chart3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3.xml" ContentType="application/vnd.openxmlformats-officedocument.drawingml.chart+xml"/>
  <Override PartName="/ppt/charts/chart3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Growth</c:v>
                </c:pt>
              </c:strCache>
            </c:strRef>
          </c:tx>
          <c:spPr>
            <a:solidFill>
              <a:srgbClr val="AEAEB2">
                <a:alpha val="45000"/>
              </a:srgbClr>
            </a:solidFill>
            <a:effectLst/>
          </c:spPr>
          <c:invertIfNegative val="0"/>
          <c:dLbls>
            <c:numFmt formatCode="0&quot; %&quot;" sourceLinked="0"/>
            <c:txPr>
              <a:bodyPr/>
              <a:lstStyle/>
              <a:p>
                <a:pPr>
                  <a:defRPr b="0" i="0" strike="noStrike" sz="650" u="none">
                    <a:solidFill>
                      <a:srgbClr val="8E8E93"/>
                    </a:solidFill>
                    <a:latin typeface="Arial"/>
                  </a:defRPr>
                </a:pPr>
              </a:p>
            </c:txPr>
            <c:showLegendKey val="0"/>
            <c:showVal val="1"/>
            <c:showCatName val="0"/>
            <c:showSerName val="0"/>
            <c:showPercent val="0"/>
            <c:showBubbleSize val="0"/>
            <c:showLeaderLines val="0"/>
          </c:dLbls>
          <c:cat>
            <c:multiLvlStrRef>
              <c:f>Sheet1!$A$2:$A$7</c:f>
              <c:multiLvlStrCache>
                <c:ptCount val="6"/>
                <c:lvl>
                  <c:pt idx="0">
                    <c:v>Q3 23</c:v>
                  </c:pt>
                  <c:pt idx="1">
                    <c:v>Q4 23</c:v>
                  </c:pt>
                  <c:pt idx="2">
                    <c:v>Q1 24</c:v>
                  </c:pt>
                  <c:pt idx="3">
                    <c:v>Q2 24</c:v>
                  </c:pt>
                  <c:pt idx="4">
                    <c:v>Q3 24</c:v>
                  </c:pt>
                  <c:pt idx="5">
                    <c:v>Q4 24</c:v>
                  </c:pt>
                </c:lvl>
              </c:multiLvlStrCache>
            </c:multiLvlStrRef>
          </c:cat>
          <c:val>
            <c:numRef>
              <c:f>Sheet1!$B$2:$B$7</c:f>
              <c:numCache>
                <c:formatCode>General</c:formatCode>
                <c:ptCount val="6"/>
                <c:pt idx="0">
                  <c:v>10</c:v>
                </c:pt>
                <c:pt idx="1">
                  <c:v>13</c:v>
                </c:pt>
                <c:pt idx="2">
                  <c:v>14</c:v>
                </c:pt>
                <c:pt idx="3">
                  <c:v>30</c:v>
                </c:pt>
                <c:pt idx="4">
                  <c:v>23</c:v>
                </c:pt>
                <c:pt idx="5">
                  <c:v>81</c:v>
                </c:pt>
              </c:numCache>
            </c:numRef>
          </c:val>
        </c:ser>
        <c:dLbls>
          <c:numFmt formatCode="0&quot; %&quot;" sourceLinked="0"/>
          <c:txPr>
            <a:bodyPr/>
            <a:lstStyle/>
            <a:p>
              <a:pPr>
                <a:defRPr b="0" i="0" strike="noStrike" sz="650" u="none">
                  <a:solidFill>
                    <a:srgbClr val="8E8E93"/>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C7C7C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Net income</c:v>
                </c:pt>
              </c:strCache>
            </c:strRef>
          </c:tx>
          <c:spPr>
            <a:solidFill>
              <a:srgbClr val="AEAEB2"/>
            </a:solidFill>
            <a:effectLst/>
          </c:spPr>
          <c:invertIfNegative val="0"/>
          <c:dLbls>
            <c:numFmt formatCode="&quot;$&quot;0&quot;M&quot;" sourceLinked="0"/>
            <c:txPr>
              <a:bodyPr/>
              <a:lstStyle/>
              <a:p>
                <a:pPr>
                  <a:defRPr b="0" i="0" strike="noStrike" sz="650" u="none">
                    <a:solidFill>
                      <a:srgbClr val="000000"/>
                    </a:solidFill>
                    <a:latin typeface="Arial"/>
                  </a:defRPr>
                </a:pPr>
              </a:p>
            </c:txP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Sheet1!$B$2:$B$10</c:f>
              <c:numCache>
                <c:formatCode>General</c:formatCode>
                <c:ptCount val="9"/>
                <c:pt idx="0">
                  <c:v>115</c:v>
                </c:pt>
                <c:pt idx="1">
                  <c:v>109</c:v>
                </c:pt>
                <c:pt idx="2">
                  <c:v>184</c:v>
                </c:pt>
                <c:pt idx="3">
                  <c:v>250</c:v>
                </c:pt>
                <c:pt idx="4">
                  <c:v>274</c:v>
                </c:pt>
                <c:pt idx="5">
                  <c:v>317</c:v>
                </c:pt>
                <c:pt idx="6">
                  <c:v>301</c:v>
                </c:pt>
                <c:pt idx="7">
                  <c:v>299</c:v>
                </c:pt>
                <c:pt idx="8">
                  <c:v>343</c:v>
                </c:pt>
              </c:numCache>
            </c:numRef>
          </c:val>
        </c:ser>
        <c:dLbls>
          <c:numFmt formatCode="&quot;$&quot;0&quot;M&quot;" sourceLinked="0"/>
          <c:txPr>
            <a:bodyPr/>
            <a:lstStyle/>
            <a:p>
              <a:pPr>
                <a:defRPr b="0" i="0" strike="noStrike" sz="65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7C7C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US &amp; Canada</c:v>
                </c:pt>
              </c:strCache>
            </c:strRef>
          </c:tx>
          <c:spPr>
            <a:solidFill>
              <a:srgbClr val="D1D1D6"/>
            </a:solidFill>
            <a:effectLst/>
          </c:spPr>
          <c:invertIfNegative val="0"/>
          <c:dLbls>
            <c:numFmt formatCode="&quot;$&quot;0&quot;M&quot;" sourceLinked="0"/>
            <c:txPr>
              <a:bodyPr/>
              <a:lstStyle/>
              <a:p>
                <a:pPr>
                  <a:defRPr b="0" i="0" strike="noStrike" sz="500" u="none">
                    <a:solidFill>
                      <a:srgbClr val="1C1C1E"/>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Sheet1!$B$2:$B$10</c:f>
              <c:numCache>
                <c:formatCode>General</c:formatCode>
                <c:ptCount val="9"/>
                <c:pt idx="0">
                  <c:v>58</c:v>
                </c:pt>
                <c:pt idx="1">
                  <c:v>55</c:v>
                </c:pt>
                <c:pt idx="2">
                  <c:v>92</c:v>
                </c:pt>
                <c:pt idx="3">
                  <c:v>125</c:v>
                </c:pt>
                <c:pt idx="4">
                  <c:v>137</c:v>
                </c:pt>
                <c:pt idx="5">
                  <c:v>159</c:v>
                </c:pt>
                <c:pt idx="6">
                  <c:v>151</c:v>
                </c:pt>
                <c:pt idx="7">
                  <c:v>150</c:v>
                </c:pt>
                <c:pt idx="8">
                  <c:v>172</c:v>
                </c:pt>
              </c:numCache>
            </c:numRef>
          </c:val>
        </c:ser>
        <c:ser>
          <c:idx val="1"/>
          <c:order val="1"/>
          <c:tx>
            <c:strRef>
              <c:f>Sheet1!$C$1</c:f>
              <c:strCache>
                <c:ptCount val="1"/>
                <c:pt idx="0">
                  <c:v>Europe</c:v>
                </c:pt>
              </c:strCache>
            </c:strRef>
          </c:tx>
          <c:spPr>
            <a:solidFill>
              <a:srgbClr val="AEAEB2"/>
            </a:solidFill>
            <a:effectLst/>
          </c:spPr>
          <c:invertIfNegative val="0"/>
          <c:dLbls>
            <c:numFmt formatCode="&quot;$&quot;0&quot;M&quot;" sourceLinked="0"/>
            <c:txPr>
              <a:bodyPr/>
              <a:lstStyle/>
              <a:p>
                <a:pPr>
                  <a:defRPr b="0" i="0" strike="noStrike" sz="500" u="none">
                    <a:solidFill>
                      <a:srgbClr val="1C1C1E"/>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Sheet1!$C$2:$C$10</c:f>
              <c:numCache>
                <c:formatCode>General</c:formatCode>
                <c:ptCount val="9"/>
                <c:pt idx="0">
                  <c:v>29</c:v>
                </c:pt>
                <c:pt idx="1">
                  <c:v>27</c:v>
                </c:pt>
                <c:pt idx="2">
                  <c:v>46</c:v>
                </c:pt>
                <c:pt idx="3">
                  <c:v>63</c:v>
                </c:pt>
                <c:pt idx="4">
                  <c:v>69</c:v>
                </c:pt>
                <c:pt idx="5">
                  <c:v>79</c:v>
                </c:pt>
                <c:pt idx="6">
                  <c:v>75</c:v>
                </c:pt>
                <c:pt idx="7">
                  <c:v>75</c:v>
                </c:pt>
                <c:pt idx="8">
                  <c:v>86</c:v>
                </c:pt>
              </c:numCache>
            </c:numRef>
          </c:val>
        </c:ser>
        <c:ser>
          <c:idx val="2"/>
          <c:order val="2"/>
          <c:tx>
            <c:strRef>
              <c:f>Sheet1!$D$1</c:f>
              <c:strCache>
                <c:ptCount val="1"/>
                <c:pt idx="0">
                  <c:v>Asia-Pacific</c:v>
                </c:pt>
              </c:strCache>
            </c:strRef>
          </c:tx>
          <c:spPr>
            <a:solidFill>
              <a:srgbClr val="8E8E93"/>
            </a:solidFill>
            <a:effectLst/>
          </c:spPr>
          <c:invertIfNegative val="0"/>
          <c:dLbls>
            <c:numFmt formatCode="&quot;$&quot;0&quot;M&quot;" sourceLinked="0"/>
            <c:txPr>
              <a:bodyPr/>
              <a:lstStyle/>
              <a:p>
                <a:pPr>
                  <a:defRPr b="0" i="0" strike="noStrike" sz="500" u="none">
                    <a:solidFill>
                      <a:srgbClr val="1C1C1E"/>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Sheet1!$D$2:$D$10</c:f>
              <c:numCache>
                <c:formatCode>General</c:formatCode>
                <c:ptCount val="9"/>
                <c:pt idx="0">
                  <c:v>17</c:v>
                </c:pt>
                <c:pt idx="1">
                  <c:v>16</c:v>
                </c:pt>
                <c:pt idx="2">
                  <c:v>28</c:v>
                </c:pt>
                <c:pt idx="3">
                  <c:v>38</c:v>
                </c:pt>
                <c:pt idx="4">
                  <c:v>41</c:v>
                </c:pt>
                <c:pt idx="5">
                  <c:v>48</c:v>
                </c:pt>
                <c:pt idx="6">
                  <c:v>45</c:v>
                </c:pt>
                <c:pt idx="7">
                  <c:v>45</c:v>
                </c:pt>
                <c:pt idx="8">
                  <c:v>51</c:v>
                </c:pt>
              </c:numCache>
            </c:numRef>
          </c:val>
        </c:ser>
        <c:ser>
          <c:idx val="3"/>
          <c:order val="3"/>
          <c:tx>
            <c:strRef>
              <c:f>Sheet1!$E$1</c:f>
              <c:strCache>
                <c:ptCount val="1"/>
                <c:pt idx="0">
                  <c:v>Rest of World</c:v>
                </c:pt>
              </c:strCache>
            </c:strRef>
          </c:tx>
          <c:spPr>
            <a:solidFill>
              <a:srgbClr val="636366"/>
            </a:solidFill>
            <a:effectLst/>
          </c:spPr>
          <c:invertIfNegative val="0"/>
          <c:dLbls>
            <c:numFmt formatCode="&quot;$&quot;0&quot;M&quot;" sourceLinked="0"/>
            <c:txPr>
              <a:bodyPr/>
              <a:lstStyle/>
              <a:p>
                <a:pPr>
                  <a:defRPr b="0" i="0" strike="noStrike" sz="500" u="none">
                    <a:solidFill>
                      <a:srgbClr val="1C1C1E"/>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Sheet1!$E$2:$E$10</c:f>
              <c:numCache>
                <c:formatCode>General</c:formatCode>
                <c:ptCount val="9"/>
                <c:pt idx="0">
                  <c:v>12</c:v>
                </c:pt>
                <c:pt idx="1">
                  <c:v>11</c:v>
                </c:pt>
                <c:pt idx="2">
                  <c:v>18</c:v>
                </c:pt>
                <c:pt idx="3">
                  <c:v>25</c:v>
                </c:pt>
                <c:pt idx="4">
                  <c:v>27</c:v>
                </c:pt>
                <c:pt idx="5">
                  <c:v>32</c:v>
                </c:pt>
                <c:pt idx="6">
                  <c:v>30</c:v>
                </c:pt>
                <c:pt idx="7">
                  <c:v>30</c:v>
                </c:pt>
                <c:pt idx="8">
                  <c:v>34</c:v>
                </c:pt>
              </c:numCache>
            </c:numRef>
          </c:val>
        </c:ser>
        <c:dLbls>
          <c:numFmt formatCode="&quot;$&quot;0&quot;M&quot;" sourceLinked="0"/>
          <c:txPr>
            <a:bodyPr/>
            <a:lstStyle/>
            <a:p>
              <a:pPr>
                <a:defRPr b="0" i="0" strike="noStrike" sz="500" u="none">
                  <a:solidFill>
                    <a:srgbClr val="1C1C1E"/>
                  </a:solidFill>
                  <a:latin typeface="Arial"/>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7C7C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General &amp; Administrative</c:v>
                </c:pt>
              </c:strCache>
            </c:strRef>
          </c:tx>
          <c:spPr>
            <a:solidFill>
              <a:srgbClr val="636366"/>
            </a:solidFill>
            <a:effectLst/>
          </c:spPr>
          <c:invertIfNegative val="0"/>
          <c:dLbls>
            <c:numFmt formatCode="0&quot; %&quot;" sourceLinked="0"/>
            <c:txPr>
              <a:bodyPr/>
              <a:lstStyle/>
              <a:p>
                <a:pPr>
                  <a:defRPr b="0" i="0" strike="noStrike" sz="500" u="none">
                    <a:solidFill>
                      <a:srgbClr val="1C1C1E"/>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Sheet1!$B$2:$B$10</c:f>
              <c:numCache>
                <c:formatCode>General</c:formatCode>
                <c:ptCount val="9"/>
                <c:pt idx="0">
                  <c:v>5</c:v>
                </c:pt>
                <c:pt idx="1">
                  <c:v>6</c:v>
                </c:pt>
                <c:pt idx="2">
                  <c:v>6</c:v>
                </c:pt>
                <c:pt idx="3">
                  <c:v>6</c:v>
                </c:pt>
                <c:pt idx="4">
                  <c:v>6</c:v>
                </c:pt>
                <c:pt idx="5">
                  <c:v>8</c:v>
                </c:pt>
                <c:pt idx="6">
                  <c:v>8</c:v>
                </c:pt>
                <c:pt idx="7">
                  <c:v>10</c:v>
                </c:pt>
                <c:pt idx="8">
                  <c:v>8</c:v>
                </c:pt>
              </c:numCache>
            </c:numRef>
          </c:val>
        </c:ser>
        <c:ser>
          <c:idx val="1"/>
          <c:order val="1"/>
          <c:tx>
            <c:strRef>
              <c:f>Sheet1!$C$1</c:f>
              <c:strCache>
                <c:ptCount val="1"/>
                <c:pt idx="0">
                  <c:v>Marketing &amp; Sales</c:v>
                </c:pt>
              </c:strCache>
            </c:strRef>
          </c:tx>
          <c:spPr>
            <a:solidFill>
              <a:srgbClr val="8E8E93"/>
            </a:solidFill>
            <a:effectLst/>
          </c:spPr>
          <c:invertIfNegative val="0"/>
          <c:dLbls>
            <c:numFmt formatCode="0&quot; %&quot;" sourceLinked="0"/>
            <c:txPr>
              <a:bodyPr/>
              <a:lstStyle/>
              <a:p>
                <a:pPr>
                  <a:defRPr b="0" i="0" strike="noStrike" sz="500" u="none">
                    <a:solidFill>
                      <a:srgbClr val="1C1C1E"/>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Sheet1!$C$2:$C$10</c:f>
              <c:numCache>
                <c:formatCode>General</c:formatCode>
                <c:ptCount val="9"/>
                <c:pt idx="0">
                  <c:v>10</c:v>
                </c:pt>
                <c:pt idx="1">
                  <c:v>11</c:v>
                </c:pt>
                <c:pt idx="2">
                  <c:v>11</c:v>
                </c:pt>
                <c:pt idx="3">
                  <c:v>11</c:v>
                </c:pt>
                <c:pt idx="4">
                  <c:v>11</c:v>
                </c:pt>
                <c:pt idx="5">
                  <c:v>13</c:v>
                </c:pt>
                <c:pt idx="6">
                  <c:v>13</c:v>
                </c:pt>
                <c:pt idx="7">
                  <c:v>13</c:v>
                </c:pt>
                <c:pt idx="8">
                  <c:v>12</c:v>
                </c:pt>
              </c:numCache>
            </c:numRef>
          </c:val>
        </c:ser>
        <c:ser>
          <c:idx val="2"/>
          <c:order val="2"/>
          <c:tx>
            <c:strRef>
              <c:f>Sheet1!$D$1</c:f>
              <c:strCache>
                <c:ptCount val="1"/>
                <c:pt idx="0">
                  <c:v>Research &amp; Development</c:v>
                </c:pt>
              </c:strCache>
            </c:strRef>
          </c:tx>
          <c:spPr>
            <a:solidFill>
              <a:srgbClr val="AEAEB2"/>
            </a:solidFill>
            <a:effectLst/>
          </c:spPr>
          <c:invertIfNegative val="0"/>
          <c:dLbls>
            <c:numFmt formatCode="0&quot; %&quot;" sourceLinked="0"/>
            <c:txPr>
              <a:bodyPr/>
              <a:lstStyle/>
              <a:p>
                <a:pPr>
                  <a:defRPr b="0" i="0" strike="noStrike" sz="500" u="none">
                    <a:solidFill>
                      <a:srgbClr val="1C1C1E"/>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Sheet1!$D$2:$D$10</c:f>
              <c:numCache>
                <c:formatCode>General</c:formatCode>
                <c:ptCount val="9"/>
                <c:pt idx="0">
                  <c:v>12</c:v>
                </c:pt>
                <c:pt idx="1">
                  <c:v>13</c:v>
                </c:pt>
                <c:pt idx="2">
                  <c:v>19</c:v>
                </c:pt>
                <c:pt idx="3">
                  <c:v>20</c:v>
                </c:pt>
                <c:pt idx="4">
                  <c:v>19</c:v>
                </c:pt>
                <c:pt idx="5">
                  <c:v>20</c:v>
                </c:pt>
                <c:pt idx="6">
                  <c:v>25</c:v>
                </c:pt>
                <c:pt idx="7">
                  <c:v>24</c:v>
                </c:pt>
                <c:pt idx="8">
                  <c:v>22</c:v>
                </c:pt>
              </c:numCache>
            </c:numRef>
          </c:val>
        </c:ser>
        <c:ser>
          <c:idx val="3"/>
          <c:order val="3"/>
          <c:tx>
            <c:strRef>
              <c:f>Sheet1!$E$1</c:f>
              <c:strCache>
                <c:ptCount val="1"/>
                <c:pt idx="0">
                  <c:v>Cost of Revenue</c:v>
                </c:pt>
              </c:strCache>
            </c:strRef>
          </c:tx>
          <c:spPr>
            <a:solidFill>
              <a:srgbClr val="D1D1D6"/>
            </a:solidFill>
            <a:effectLst/>
          </c:spPr>
          <c:invertIfNegative val="0"/>
          <c:dLbls>
            <c:numFmt formatCode="0&quot; %&quot;" sourceLinked="0"/>
            <c:txPr>
              <a:bodyPr/>
              <a:lstStyle/>
              <a:p>
                <a:pPr>
                  <a:defRPr b="0" i="0" strike="noStrike" sz="500" u="none">
                    <a:solidFill>
                      <a:srgbClr val="1C1C1E"/>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Sheet1!$E$2:$E$10</c:f>
              <c:numCache>
                <c:formatCode>General</c:formatCode>
                <c:ptCount val="9"/>
                <c:pt idx="0">
                  <c:v>15</c:v>
                </c:pt>
                <c:pt idx="1">
                  <c:v>18</c:v>
                </c:pt>
                <c:pt idx="2">
                  <c:v>20</c:v>
                </c:pt>
                <c:pt idx="3">
                  <c:v>20</c:v>
                </c:pt>
                <c:pt idx="4">
                  <c:v>23</c:v>
                </c:pt>
                <c:pt idx="5">
                  <c:v>25</c:v>
                </c:pt>
                <c:pt idx="6">
                  <c:v>25</c:v>
                </c:pt>
                <c:pt idx="7">
                  <c:v>28</c:v>
                </c:pt>
                <c:pt idx="8">
                  <c:v>35</c:v>
                </c:pt>
              </c:numCache>
            </c:numRef>
          </c:val>
        </c:ser>
        <c:dLbls>
          <c:numFmt formatCode="0&quot; %&quot;" sourceLinked="0"/>
          <c:txPr>
            <a:bodyPr/>
            <a:lstStyle/>
            <a:p>
              <a:pPr>
                <a:defRPr b="0" i="0" strike="noStrike" sz="500" u="none">
                  <a:solidFill>
                    <a:srgbClr val="1C1C1E"/>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7C7C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F5F5F7"/>
        </a:solidFill>
        <a:ln>
          <a:noFill/>
        </a:ln>
        <a:effectLst/>
      </c:spPr>
    </c:plotArea>
    <c:plotVisOnly val="1"/>
    <c:dispBlanksAs val="span"/>
  </c:chart>
  <c:spPr>
    <a:solidFill>
      <a:srgbClr val="F5F5F7"/>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Projection</c:v>
                </c:pt>
              </c:strCache>
            </c:strRef>
          </c:tx>
          <c:spPr>
            <a:solidFill>
              <a:srgbClr val="8E8E93"/>
            </a:solidFill>
            <a:ln w="15875" cap="flat">
              <a:solidFill>
                <a:srgbClr val="8E8E93"/>
              </a:solidFill>
              <a:prstDash val="solid"/>
              <a:round/>
            </a:ln>
            <a:effectLst/>
          </c:spPr>
          <c:invertIfNegative val="0"/>
          <c:dLbls>
            <c:numFmt formatCode="#,##0" sourceLinked="0"/>
            <c:txPr>
              <a:bodyPr/>
              <a:lstStyle/>
              <a:p>
                <a:pPr>
                  <a:defRPr b="0" i="0" strike="noStrike" sz="65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E8E93"/>
              </a:solidFill>
              <a:ln w="9525" cap="flat">
                <a:solidFill>
                  <a:srgbClr val="8E8E93"/>
                </a:solidFill>
                <a:prstDash val="solid"/>
                <a:round/>
              </a:ln>
              <a:effectLst/>
            </c:spPr>
          </c:marker>
          <c:cat>
            <c:multiLvlStrRef>
              <c:f>Sheet1!$A$2:$A$6</c:f>
              <c:multiLvlStrCache>
                <c:ptCount val="5"/>
                <c:lvl>
                  <c:pt idx="0">
                    <c:v>Year 0</c:v>
                  </c:pt>
                  <c:pt idx="1">
                    <c:v>Year 1</c:v>
                  </c:pt>
                  <c:pt idx="2">
                    <c:v>Year 2</c:v>
                  </c:pt>
                  <c:pt idx="3">
                    <c:v>Year 3</c:v>
                  </c:pt>
                  <c:pt idx="4">
                    <c:v>Year 4</c:v>
                  </c:pt>
                </c:lvl>
              </c:multiLvlStrCache>
            </c:multiLvlStrRef>
          </c:cat>
          <c:val>
            <c:numRef>
              <c:f>Sheet1!$B$2:$B$6</c:f>
              <c:numCache>
                <c:formatCode>General</c:formatCode>
                <c:ptCount val="5"/>
                <c:pt idx="0">
                  <c:v>15</c:v>
                </c:pt>
                <c:pt idx="1">
                  <c:v>20</c:v>
                </c:pt>
                <c:pt idx="2">
                  <c:v>30</c:v>
                </c:pt>
                <c:pt idx="3">
                  <c:v>45</c:v>
                </c:pt>
                <c:pt idx="4">
                  <c:v>90</c:v>
                </c:pt>
              </c:numCache>
            </c:numRef>
          </c:val>
          <c:smooth val="0"/>
        </c:ser>
        <c:ser>
          <c:idx val="1"/>
          <c:order val="1"/>
          <c:tx>
            <c:strRef>
              <c:f>Sheet1!$C$1</c:f>
              <c:strCache>
                <c:ptCount val="1"/>
                <c:pt idx="0">
                  <c:v>Total revenue</c:v>
                </c:pt>
              </c:strCache>
            </c:strRef>
          </c:tx>
          <c:spPr>
            <a:solidFill>
              <a:srgbClr val="000000"/>
            </a:solidFill>
            <a:ln w="15875" cap="flat">
              <a:solidFill>
                <a:srgbClr val="000000"/>
              </a:solidFill>
              <a:prstDash val="solid"/>
              <a:round/>
            </a:ln>
            <a:effectLst/>
          </c:spPr>
          <c:invertIfNegative val="0"/>
          <c:dLbls>
            <c:numFmt formatCode="#,##0" sourceLinked="0"/>
            <c:txPr>
              <a:bodyPr/>
              <a:lstStyle/>
              <a:p>
                <a:pPr>
                  <a:defRPr b="0" i="0" strike="noStrike" sz="65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0000"/>
              </a:solidFill>
              <a:ln w="9525" cap="flat">
                <a:solidFill>
                  <a:srgbClr val="000000"/>
                </a:solidFill>
                <a:prstDash val="solid"/>
                <a:round/>
              </a:ln>
              <a:effectLst/>
            </c:spPr>
          </c:marker>
          <c:cat>
            <c:multiLvlStrRef>
              <c:f>Sheet1!$A$2:$A$6</c:f>
              <c:multiLvlStrCache>
                <c:ptCount val="5"/>
                <c:lvl>
                  <c:pt idx="0">
                    <c:v>Year 0</c:v>
                  </c:pt>
                  <c:pt idx="1">
                    <c:v>Year 1</c:v>
                  </c:pt>
                  <c:pt idx="2">
                    <c:v>Year 2</c:v>
                  </c:pt>
                  <c:pt idx="3">
                    <c:v>Year 3</c:v>
                  </c:pt>
                  <c:pt idx="4">
                    <c:v>Year 4</c:v>
                  </c:pt>
                </c:lvl>
              </c:multiLvlStrCache>
            </c:multiLvlStrRef>
          </c:cat>
          <c:val>
            <c:numRef>
              <c:f>Sheet1!$C$2:$C$6</c:f>
              <c:numCache>
                <c:formatCode>General</c:formatCode>
                <c:ptCount val="5"/>
                <c:pt idx="0">
                  <c:v>0</c:v>
                </c:pt>
                <c:pt idx="1">
                  <c:v>22</c:v>
                </c:pt>
                <c:pt idx="2">
                  <c:v>45</c:v>
                </c:pt>
                <c:pt idx="3">
                  <c:v>68</c:v>
                </c:pt>
                <c:pt idx="4">
                  <c:v>90</c:v>
                </c:pt>
              </c:numCache>
            </c:numRef>
          </c:val>
          <c:smooth val="0"/>
        </c:ser>
        <c:dLbls>
          <c:numFmt formatCode="#,##0" sourceLinked="0"/>
          <c:txPr>
            <a:bodyPr/>
            <a:lstStyle/>
            <a:p>
              <a:pPr>
                <a:defRPr b="0" i="0" strike="noStrike" sz="65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max val="90"/>
          <c:min val="0"/>
        </c:scaling>
        <c:delete val="0"/>
        <c:axPos val="l"/>
        <c:numFmt formatCode="&quot;$&quot;0&quot;M&quot;"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majorUnit val="22.5"/>
      </c:valAx>
      <c:spPr>
        <a:solidFill>
          <a:srgbClr val="F5F5F7"/>
        </a:solidFill>
        <a:ln>
          <a:noFill/>
        </a:ln>
        <a:effectLst/>
      </c:spPr>
    </c:plotArea>
    <c:plotVisOnly val="1"/>
    <c:dispBlanksAs val="span"/>
  </c:chart>
  <c:spPr>
    <a:solidFill>
      <a:srgbClr val="F5F5F7"/>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Sales</c:v>
                </c:pt>
              </c:strCache>
            </c:strRef>
          </c:tx>
          <c:spPr>
            <a:solidFill>
              <a:srgbClr val="D1D1D6"/>
            </a:solidFill>
            <a:ln w="12700" cap="flat">
              <a:solidFill>
                <a:srgbClr val="D1D1D6"/>
              </a:solidFill>
              <a:prstDash val="solid"/>
              <a:round/>
            </a:ln>
            <a:effectLst/>
          </c:spPr>
          <c:invertIfNegative val="0"/>
          <c:marker>
            <c:symbol val="circle"/>
            <c:size val="6"/>
            <c:spPr>
              <a:solidFill>
                <a:srgbClr val="D1D1D6"/>
              </a:solidFill>
              <a:ln w="9525" cap="flat">
                <a:solidFill>
                  <a:srgbClr val="D1D1D6"/>
                </a:solidFill>
                <a:prstDash val="solid"/>
                <a:round/>
              </a:ln>
              <a:effectLst/>
            </c:spPr>
          </c:marker>
          <c:cat>
            <c:multiLvlStrRef>
              <c:f>Sheet1!$A$2:$A$9</c:f>
              <c:multiLvlStrCache>
                <c:ptCount val="8"/>
                <c:lvl>
                  <c:pt idx="0">
                    <c:v>Product 1</c:v>
                  </c:pt>
                  <c:pt idx="1">
                    <c:v>Product 2</c:v>
                  </c:pt>
                  <c:pt idx="2">
                    <c:v>Product 3</c:v>
                  </c:pt>
                  <c:pt idx="3">
                    <c:v>Product 4</c:v>
                  </c:pt>
                  <c:pt idx="4">
                    <c:v>Product 5</c:v>
                  </c:pt>
                  <c:pt idx="5">
                    <c:v>Product 6</c:v>
                  </c:pt>
                  <c:pt idx="6">
                    <c:v>Product 7</c:v>
                  </c:pt>
                  <c:pt idx="7">
                    <c:v>Product 8</c:v>
                  </c:pt>
                </c:lvl>
              </c:multiLvlStrCache>
            </c:multiLvlStrRef>
          </c:cat>
          <c:val>
            <c:numRef>
              <c:f>Sheet1!$B$2:$B$9</c:f>
              <c:numCache>
                <c:formatCode>General</c:formatCode>
                <c:ptCount val="8"/>
                <c:pt idx="0">
                  <c:v>30</c:v>
                </c:pt>
                <c:pt idx="1">
                  <c:v>45</c:v>
                </c:pt>
                <c:pt idx="2">
                  <c:v>80</c:v>
                </c:pt>
                <c:pt idx="3">
                  <c:v>55</c:v>
                </c:pt>
                <c:pt idx="4">
                  <c:v>20</c:v>
                </c:pt>
                <c:pt idx="5">
                  <c:v>40</c:v>
                </c:pt>
                <c:pt idx="6">
                  <c:v>90</c:v>
                </c:pt>
                <c:pt idx="7">
                  <c:v>25</c:v>
                </c:pt>
              </c:numCache>
            </c:numRef>
          </c:val>
        </c:ser>
        <c:dLbls>
          <c:numFmt formatCode="#,##0" sourceLinked="0"/>
          <c:txPr>
            <a:bodyPr/>
            <a:lstStyle/>
            <a:p>
              <a:pPr>
                <a:defRPr b="0" i="0" strike="noStrike" sz="65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majorGridlines>
          <c:spPr>
            <a:ln w="6350" cap="flat">
              <a:solidFill>
                <a:srgbClr val="E5E5EA"/>
              </a:solidFill>
              <a:prstDash val="solid"/>
              <a:round/>
            </a:ln>
          </c:spPr>
        </c:majorGridlines>
        <c:numFmt formatCode="General" sourceLinked="1"/>
        <c:majorTickMark val="out"/>
        <c:minorTickMark val="none"/>
        <c:tickLblPos val="low"/>
        <c:spPr>
          <a:ln w="12700" cap="flat">
            <a:solidFill>
              <a:srgbClr val="C7C7CC"/>
            </a:solidFill>
            <a:prstDash val="solid"/>
            <a:round/>
          </a:ln>
        </c:spPr>
        <c:txPr>
          <a:bodyPr/>
          <a:lstStyle/>
          <a:p>
            <a:pPr>
              <a:defRPr sz="65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5E5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F5F5F7"/>
        </a:solidFill>
        <a:ln>
          <a:noFill/>
        </a:ln>
        <a:effectLst/>
      </c:spPr>
    </c:plotArea>
    <c:plotVisOnly val="1"/>
    <c:dispBlanksAs val="span"/>
  </c:chart>
  <c:spPr>
    <a:solidFill>
      <a:srgbClr val="F5F5F7"/>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Plan</c:v>
                </c:pt>
              </c:strCache>
            </c:strRef>
          </c:tx>
          <c:spPr>
            <a:solidFill>
              <a:srgbClr val="C7C7CC"/>
            </a:solidFill>
            <a:ln w="12700" cap="flat">
              <a:solidFill>
                <a:srgbClr val="C7C7CC"/>
              </a:solidFill>
              <a:prstDash val="solid"/>
              <a:round/>
            </a:ln>
            <a:effectLst/>
          </c:spPr>
          <c:invertIfNegative val="0"/>
          <c:dLbls>
            <c:numFmt formatCode="#,##0" sourceLinked="0"/>
            <c:txPr>
              <a:bodyPr/>
              <a:lstStyle/>
              <a:p>
                <a:pPr>
                  <a:defRPr b="0" i="0" strike="noStrike" sz="65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7C7CC"/>
              </a:solidFill>
              <a:ln w="9525" cap="flat">
                <a:solidFill>
                  <a:srgbClr val="000000"/>
                </a:solidFill>
                <a:prstDash val="solid"/>
                <a:round/>
              </a:ln>
              <a:effectLst/>
            </c:spPr>
          </c:marker>
          <c:cat>
            <c:multiLvlStrRef>
              <c:f>Sheet1!$A$2:$A$5</c:f>
              <c:multiLvlStrCache>
                <c:ptCount val="4"/>
                <c:lvl>
                  <c:pt idx="0">
                    <c:v>Q 1</c:v>
                  </c:pt>
                  <c:pt idx="1">
                    <c:v>Q 2</c:v>
                  </c:pt>
                  <c:pt idx="2">
                    <c:v>Q 3</c:v>
                  </c:pt>
                  <c:pt idx="3">
                    <c:v>Q 4</c:v>
                  </c:pt>
                </c:lvl>
              </c:multiLvlStrCache>
            </c:multiLvlStrRef>
          </c:cat>
          <c:val>
            <c:numRef>
              <c:f>Sheet1!$B$2:$B$5</c:f>
              <c:numCache>
                <c:formatCode>General</c:formatCode>
                <c:ptCount val="4"/>
                <c:pt idx="0">
                  <c:v>220</c:v>
                </c:pt>
                <c:pt idx="1">
                  <c:v>330</c:v>
                </c:pt>
                <c:pt idx="2">
                  <c:v>450</c:v>
                </c:pt>
                <c:pt idx="3">
                  <c:v>640</c:v>
                </c:pt>
              </c:numCache>
            </c:numRef>
          </c:val>
          <c:smooth val="0"/>
        </c:ser>
        <c:ser>
          <c:idx val="1"/>
          <c:order val="1"/>
          <c:tx>
            <c:strRef>
              <c:f>Sheet1!$C$1</c:f>
              <c:strCache>
                <c:ptCount val="1"/>
                <c:pt idx="0">
                  <c:v>GAAP operating profit</c:v>
                </c:pt>
              </c:strCache>
            </c:strRef>
          </c:tx>
          <c:spPr>
            <a:solidFill>
              <a:srgbClr val="000000"/>
            </a:solidFill>
            <a:ln w="12700" cap="flat">
              <a:solidFill>
                <a:srgbClr val="000000"/>
              </a:solidFill>
              <a:prstDash val="solid"/>
              <a:round/>
            </a:ln>
            <a:effectLst/>
          </c:spPr>
          <c:invertIfNegative val="0"/>
          <c:dLbls>
            <c:numFmt formatCode="#,##0" sourceLinked="0"/>
            <c:txPr>
              <a:bodyPr/>
              <a:lstStyle/>
              <a:p>
                <a:pPr>
                  <a:defRPr b="0" i="0" strike="noStrike" sz="65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0000"/>
              </a:solidFill>
              <a:ln w="9525" cap="flat">
                <a:solidFill>
                  <a:srgbClr val="000000"/>
                </a:solidFill>
                <a:prstDash val="solid"/>
                <a:round/>
              </a:ln>
              <a:effectLst/>
            </c:spPr>
          </c:marker>
          <c:cat>
            <c:multiLvlStrRef>
              <c:f>Sheet1!$A$2:$A$5</c:f>
              <c:multiLvlStrCache>
                <c:ptCount val="4"/>
                <c:lvl>
                  <c:pt idx="0">
                    <c:v>Q 1</c:v>
                  </c:pt>
                  <c:pt idx="1">
                    <c:v>Q 2</c:v>
                  </c:pt>
                  <c:pt idx="2">
                    <c:v>Q 3</c:v>
                  </c:pt>
                  <c:pt idx="3">
                    <c:v>Q 4</c:v>
                  </c:pt>
                </c:lvl>
              </c:multiLvlStrCache>
            </c:multiLvlStrRef>
          </c:cat>
          <c:val>
            <c:numRef>
              <c:f>Sheet1!$C$2:$C$5</c:f>
              <c:numCache>
                <c:formatCode>General</c:formatCode>
                <c:ptCount val="4"/>
                <c:pt idx="0">
                  <c:v>240</c:v>
                </c:pt>
                <c:pt idx="1">
                  <c:v>300</c:v>
                </c:pt>
                <c:pt idx="2">
                  <c:v>400</c:v>
                </c:pt>
                <c:pt idx="3">
                  <c:v>620</c:v>
                </c:pt>
              </c:numCache>
            </c:numRef>
          </c:val>
          <c:smooth val="0"/>
        </c:ser>
        <c:dLbls>
          <c:numFmt formatCode="#,##0" sourceLinked="0"/>
          <c:txPr>
            <a:bodyPr/>
            <a:lstStyle/>
            <a:p>
              <a:pPr>
                <a:defRPr b="0" i="0" strike="noStrike" sz="65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max val="700"/>
          <c:min val="0"/>
        </c:scaling>
        <c:delete val="0"/>
        <c:axPos val="l"/>
        <c:numFmt formatCode="&quot;$&quot;0&quot;M&quot;"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majorUnit val="175"/>
      </c:valAx>
      <c:spPr>
        <a:solidFill>
          <a:srgbClr val="F5F5F7"/>
        </a:solidFill>
        <a:ln>
          <a:noFill/>
        </a:ln>
        <a:effectLst/>
      </c:spPr>
    </c:plotArea>
    <c:plotVisOnly val="1"/>
    <c:dispBlanksAs val="span"/>
  </c:chart>
  <c:spPr>
    <a:solidFill>
      <a:srgbClr val="F5F5F7"/>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Commercial</c:v>
                </c:pt>
              </c:strCache>
            </c:strRef>
          </c:tx>
          <c:spPr>
            <a:solidFill>
              <a:srgbClr val="AEAEB2"/>
            </a:solidFill>
            <a:effectLst/>
          </c:spPr>
          <c:invertIfNegative val="0"/>
          <c:dLbls>
            <c:numFmt formatCode="#,##0"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Sheet1!$B$2:$B$5</c:f>
              <c:numCache>
                <c:formatCode>General</c:formatCode>
                <c:ptCount val="4"/>
                <c:pt idx="0">
                  <c:v>8</c:v>
                </c:pt>
                <c:pt idx="1">
                  <c:v>12</c:v>
                </c:pt>
                <c:pt idx="2">
                  <c:v>17</c:v>
                </c:pt>
                <c:pt idx="3">
                  <c:v>16</c:v>
                </c:pt>
              </c:numCache>
            </c:numRef>
          </c:val>
        </c:ser>
        <c:dLbls>
          <c:numFmt formatCode="#,##0"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7C7C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F5F5F7"/>
        </a:solidFill>
        <a:ln>
          <a:noFill/>
        </a:ln>
        <a:effectLst/>
      </c:spPr>
    </c:plotArea>
    <c:plotVisOnly val="1"/>
    <c:dispBlanksAs val="span"/>
  </c:chart>
  <c:spPr>
    <a:solidFill>
      <a:srgbClr val="F5F5F7"/>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Total</c:v>
                </c:pt>
              </c:strCache>
            </c:strRef>
          </c:tx>
          <c:spPr>
            <a:solidFill>
              <a:srgbClr val="AEAEB2"/>
            </a:solidFill>
            <a:effectLst/>
          </c:spPr>
          <c:invertIfNegative val="0"/>
          <c:dLbls>
            <c:numFmt formatCode="#,##0"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Sheet1!$B$2:$B$5</c:f>
              <c:numCache>
                <c:formatCode>General</c:formatCode>
                <c:ptCount val="4"/>
                <c:pt idx="0">
                  <c:v>10</c:v>
                </c:pt>
                <c:pt idx="1">
                  <c:v>15</c:v>
                </c:pt>
                <c:pt idx="2">
                  <c:v>20</c:v>
                </c:pt>
                <c:pt idx="3">
                  <c:v>20</c:v>
                </c:pt>
              </c:numCache>
            </c:numRef>
          </c:val>
        </c:ser>
        <c:dLbls>
          <c:numFmt formatCode="#,##0"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7C7C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F5F5F7"/>
        </a:solidFill>
        <a:ln>
          <a:noFill/>
        </a:ln>
        <a:effectLst/>
      </c:spPr>
    </c:plotArea>
    <c:plotVisOnly val="1"/>
    <c:dispBlanksAs val="span"/>
  </c:chart>
  <c:spPr>
    <a:solidFill>
      <a:srgbClr val="F5F5F7"/>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E-commerce</c:v>
                </c:pt>
              </c:strCache>
            </c:strRef>
          </c:tx>
          <c:spPr>
            <a:solidFill>
              <a:srgbClr val="8E8E93"/>
            </a:solidFill>
            <a:effectLst/>
          </c:spPr>
          <c:invertIfNegative val="0"/>
          <c:dLbls>
            <c:numFmt formatCode="#,##0" sourceLinked="0"/>
            <c:txPr>
              <a:bodyPr/>
              <a:lstStyle/>
              <a:p>
                <a:pPr>
                  <a:defRPr b="0" i="0" strike="noStrike" sz="65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Revenue</c:v>
                  </c:pt>
                </c:lvl>
              </c:multiLvlStrCache>
            </c:multiLvlStrRef>
          </c:cat>
          <c:val>
            <c:numRef>
              <c:f>Sheet1!$B$2:$B$2</c:f>
              <c:numCache>
                <c:formatCode>General</c:formatCode>
                <c:ptCount val="1"/>
                <c:pt idx="0">
                  <c:v>2.4</c:v>
                </c:pt>
              </c:numCache>
            </c:numRef>
          </c:val>
        </c:ser>
        <c:ser>
          <c:idx val="1"/>
          <c:order val="1"/>
          <c:tx>
            <c:strRef>
              <c:f>Sheet1!$C$1</c:f>
              <c:strCache>
                <c:ptCount val="1"/>
                <c:pt idx="0">
                  <c:v>Retail</c:v>
                </c:pt>
              </c:strCache>
            </c:strRef>
          </c:tx>
          <c:spPr>
            <a:solidFill>
              <a:srgbClr val="D1D1D6"/>
            </a:solidFill>
            <a:effectLst/>
          </c:spPr>
          <c:invertIfNegative val="0"/>
          <c:dLbls>
            <c:numFmt formatCode="#,##0" sourceLinked="0"/>
            <c:txPr>
              <a:bodyPr/>
              <a:lstStyle/>
              <a:p>
                <a:pPr>
                  <a:defRPr b="0" i="0" strike="noStrike" sz="65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Revenue</c:v>
                  </c:pt>
                </c:lvl>
              </c:multiLvlStrCache>
            </c:multiLvlStrRef>
          </c:cat>
          <c:val>
            <c:numRef>
              <c:f>Sheet1!$C$2:$C$2</c:f>
              <c:numCache>
                <c:formatCode>General</c:formatCode>
                <c:ptCount val="1"/>
                <c:pt idx="0">
                  <c:v>10</c:v>
                </c:pt>
              </c:numCache>
            </c:numRef>
          </c:val>
        </c:ser>
        <c:dLbls>
          <c:numFmt formatCode="#,##0" sourceLinked="0"/>
          <c:txPr>
            <a:bodyPr/>
            <a:lstStyle/>
            <a:p>
              <a:pPr>
                <a:defRPr b="0" i="0" strike="noStrike" sz="650" u="none">
                  <a:solidFill>
                    <a:srgbClr val="000000"/>
                  </a:solidFill>
                  <a:latin typeface="Arial"/>
                </a:defRPr>
              </a:pPr>
            </a:p>
          </c:txPr>
          <c:showLegendKey val="0"/>
          <c:showVal val="0"/>
          <c:showCatName val="0"/>
          <c:showSerName val="0"/>
          <c:showPercent val="0"/>
          <c:showBubbleSize val="0"/>
          <c:showLeaderLines val="0"/>
        </c:dLbls>
        <c:gapWidth val="5"/>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no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Adjusted gross margin</c:v>
                </c:pt>
              </c:strCache>
            </c:strRef>
          </c:tx>
          <c:spPr>
            <a:solidFill>
              <a:srgbClr val="AEAEB2"/>
            </a:solidFill>
            <a:ln w="19050" cap="flat">
              <a:solidFill>
                <a:srgbClr val="AEAEB2"/>
              </a:solidFill>
              <a:prstDash val="sysDot"/>
              <a:round/>
            </a:ln>
            <a:effectLst/>
          </c:spPr>
          <c:invertIfNegative val="0"/>
          <c:dLbls>
            <c:numFmt formatCode="0&quot; %&quot;" sourceLinked="0"/>
            <c:txPr>
              <a:bodyPr/>
              <a:lstStyle/>
              <a:p>
                <a:pPr>
                  <a:defRPr b="0" i="0" strike="noStrike" sz="650" u="none">
                    <a:solidFill>
                      <a:srgbClr val="000000"/>
                    </a:solidFill>
                    <a:latin typeface="Arial"/>
                  </a:defRPr>
                </a:pPr>
              </a:p>
            </c:txPr>
            <c:dLblPos val="t"/>
            <c:showLegendKey val="0"/>
            <c:showVal val="1"/>
            <c:showCatName val="0"/>
            <c:showSerName val="0"/>
            <c:showPercent val="0"/>
            <c:showBubbleSize val="0"/>
            <c:showLeaderLines val="0"/>
          </c:dLbls>
          <c:marker>
            <c:symbol val="none"/>
            <c:size val="6"/>
            <c:spPr>
              <a:solidFill>
                <a:srgbClr val="AEAEB2"/>
              </a:solidFill>
              <a:ln w="9525" cap="flat">
                <a:solidFill>
                  <a:srgbClr val="AEAEB2"/>
                </a:solidFill>
                <a:prstDash val="solid"/>
                <a:round/>
              </a:ln>
              <a:effectLst/>
            </c:spPr>
          </c:marker>
          <c:cat>
            <c:multiLvlStrRef>
              <c:f>Sheet1!$A$2:$A$7</c:f>
              <c:multiLvlStrCache>
                <c:ptCount val="6"/>
                <c:lvl>
                  <c:pt idx="0">
                    <c:v>Q3 23</c:v>
                  </c:pt>
                  <c:pt idx="1">
                    <c:v>Q4 23</c:v>
                  </c:pt>
                  <c:pt idx="2">
                    <c:v>Q1 24</c:v>
                  </c:pt>
                  <c:pt idx="3">
                    <c:v>Q2 24</c:v>
                  </c:pt>
                  <c:pt idx="4">
                    <c:v>Q3 24</c:v>
                  </c:pt>
                  <c:pt idx="5">
                    <c:v>Q4 24</c:v>
                  </c:pt>
                </c:lvl>
              </c:multiLvlStrCache>
            </c:multiLvlStrRef>
          </c:cat>
          <c:val>
            <c:numRef>
              <c:f>Sheet1!$B$2:$B$7</c:f>
              <c:numCache>
                <c:formatCode>General</c:formatCode>
                <c:ptCount val="6"/>
                <c:pt idx="0">
                  <c:v>80</c:v>
                </c:pt>
                <c:pt idx="1">
                  <c:v>80</c:v>
                </c:pt>
                <c:pt idx="2">
                  <c:v>80</c:v>
                </c:pt>
                <c:pt idx="3">
                  <c:v>82</c:v>
                </c:pt>
                <c:pt idx="4">
                  <c:v>80</c:v>
                </c:pt>
                <c:pt idx="5">
                  <c:v>81</c:v>
                </c:pt>
              </c:numCache>
            </c:numRef>
          </c:val>
          <c:smooth val="1"/>
        </c:ser>
        <c:dLbls>
          <c:numFmt formatCode="0&quot; %&quot;" sourceLinked="0"/>
          <c:txPr>
            <a:bodyPr/>
            <a:lstStyle/>
            <a:p>
              <a:pPr>
                <a:defRPr b="0" i="0" strike="noStrike" sz="650" u="none">
                  <a:solidFill>
                    <a:srgbClr val="00000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7C7C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max val="88"/>
          <c:min val="74"/>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F5F5F7"/>
        </a:solidFill>
        <a:ln>
          <a:noFill/>
        </a:ln>
        <a:effectLst/>
      </c:spPr>
    </c:plotArea>
    <c:plotVisOnly val="1"/>
    <c:dispBlanksAs val="span"/>
  </c:chart>
  <c:spPr>
    <a:solidFill>
      <a:srgbClr val="F5F5F7"/>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Retail</c:v>
                </c:pt>
              </c:strCache>
            </c:strRef>
          </c:tx>
          <c:spPr>
            <a:solidFill>
              <a:schemeClr val="accent1"/>
            </a:solidFill>
            <a:ln w="9525" cap="flat">
              <a:solidFill>
                <a:srgbClr val="F9F9F9"/>
              </a:solidFill>
              <a:prstDash val="solid"/>
              <a:round/>
            </a:ln>
            <a:effectLst/>
          </c:spPr>
          <c:dPt>
            <c:idx val="0"/>
            <c:bubble3D val="0"/>
            <c:spPr>
              <a:solidFill>
                <a:srgbClr val="636366"/>
              </a:solidFill>
              <a:effectLst/>
            </c:spPr>
          </c:dPt>
          <c:dPt>
            <c:idx val="1"/>
            <c:bubble3D val="0"/>
            <c:spPr>
              <a:solidFill>
                <a:srgbClr val="8E8E93"/>
              </a:solidFill>
              <a:effectLst/>
            </c:spPr>
          </c:dPt>
          <c:dPt>
            <c:idx val="2"/>
            <c:bubble3D val="0"/>
            <c:spPr>
              <a:solidFill>
                <a:srgbClr val="AEAEB2"/>
              </a:solidFill>
              <a:effectLst/>
            </c:spPr>
          </c:dPt>
          <c:dPt>
            <c:idx val="3"/>
            <c:bubble3D val="0"/>
            <c:spPr>
              <a:solidFill>
                <a:srgbClr val="D1D1D6"/>
              </a:solidFill>
              <a:effectLst/>
            </c:spPr>
          </c:dPt>
          <c:dLbls>
            <c:dLbl>
              <c:idx val="0"/>
              <c:numFmt formatCode="General" sourceLinked="0"/>
              <c:spPr/>
              <c:txPr>
                <a:bodyPr/>
                <a:lstStyle/>
                <a:p>
                  <a:pPr>
                    <a:defRPr sz="65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65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65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65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Retailer 1</c:v>
                </c:pt>
                <c:pt idx="1">
                  <c:v>Retailer 2</c:v>
                </c:pt>
                <c:pt idx="2">
                  <c:v>Retailer 3</c:v>
                </c:pt>
                <c:pt idx="3">
                  <c:v>Retailer 4</c:v>
                </c:pt>
              </c:strCache>
            </c:strRef>
          </c:cat>
          <c:val>
            <c:numRef>
              <c:f>Sheet1!$B$2:$B$5</c:f>
              <c:numCache>
                <c:ptCount val="4"/>
                <c:pt idx="0">
                  <c:v>10</c:v>
                </c:pt>
                <c:pt idx="1">
                  <c:v>14</c:v>
                </c:pt>
                <c:pt idx="2">
                  <c:v>16</c:v>
                </c:pt>
                <c:pt idx="3">
                  <c:v>60</c:v>
                </c:pt>
              </c:numCache>
            </c:numRef>
          </c:val>
        </c:ser>
        <c:firstSliceAng val="0"/>
      </c:pieChart>
      <c:spPr>
        <a:solidFill>
          <a:srgbClr val="F5F5F7"/>
        </a:solidFill>
        <a:ln>
          <a:noFill/>
        </a:ln>
        <a:effectLst/>
      </c:spPr>
    </c:plotArea>
    <c:legend>
      <c:legendPos val="b"/>
      <c:overlay val="0"/>
      <c:txPr>
        <a:bodyPr/>
        <a:lstStyle/>
        <a:p>
          <a:pPr>
            <a:defRPr sz="700">
              <a:solidFill>
                <a:srgbClr val="000000"/>
              </a:solidFill>
              <a:latin typeface="Arial"/>
              <a:cs typeface="Arial"/>
            </a:defRPr>
          </a:pPr>
          <a:endParaRPr lang="en-US"/>
        </a:p>
      </c:txPr>
    </c:legend>
    <c:plotVisOnly val="1"/>
    <c:dispBlanksAs val="span"/>
  </c:chart>
  <c:spPr>
    <a:solidFill>
      <a:srgbClr val="F5F5F7"/>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Segment 1</c:v>
                </c:pt>
              </c:strCache>
            </c:strRef>
          </c:tx>
          <c:spPr>
            <a:solidFill>
              <a:srgbClr val="D1D1D6"/>
            </a:solidFill>
            <a:effectLst/>
          </c:spPr>
          <c:invertIfNegative val="0"/>
          <c:dLbls>
            <c:numFmt formatCode="&quot;$&quot;0&quot;M&quot;"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Sheet1!$B$2:$B$5</c:f>
              <c:numCache>
                <c:formatCode>General</c:formatCode>
                <c:ptCount val="4"/>
                <c:pt idx="0">
                  <c:v>120</c:v>
                </c:pt>
                <c:pt idx="1">
                  <c:v>130</c:v>
                </c:pt>
                <c:pt idx="2">
                  <c:v>200</c:v>
                </c:pt>
                <c:pt idx="3">
                  <c:v>220</c:v>
                </c:pt>
              </c:numCache>
            </c:numRef>
          </c:val>
        </c:ser>
        <c:ser>
          <c:idx val="1"/>
          <c:order val="1"/>
          <c:tx>
            <c:strRef>
              <c:f>Sheet1!$C$1</c:f>
              <c:strCache>
                <c:ptCount val="1"/>
                <c:pt idx="0">
                  <c:v>Segment 2</c:v>
                </c:pt>
              </c:strCache>
            </c:strRef>
          </c:tx>
          <c:spPr>
            <a:solidFill>
              <a:srgbClr val="AEAEB2"/>
            </a:solidFill>
            <a:effectLst/>
          </c:spPr>
          <c:invertIfNegative val="0"/>
          <c:dLbls>
            <c:numFmt formatCode="&quot;$&quot;0&quot;M&quot;"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Sheet1!$C$2:$C$5</c:f>
              <c:numCache>
                <c:formatCode>General</c:formatCode>
                <c:ptCount val="4"/>
                <c:pt idx="0">
                  <c:v>140</c:v>
                </c:pt>
                <c:pt idx="1">
                  <c:v>150</c:v>
                </c:pt>
                <c:pt idx="2">
                  <c:v>200</c:v>
                </c:pt>
                <c:pt idx="3">
                  <c:v>220</c:v>
                </c:pt>
              </c:numCache>
            </c:numRef>
          </c:val>
        </c:ser>
        <c:dLbls>
          <c:numFmt formatCode="&quot;$&quot;0&quot;M&quot;"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7C7C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F5F5F7"/>
        </a:solidFill>
        <a:ln>
          <a:noFill/>
        </a:ln>
        <a:effectLst/>
      </c:spPr>
    </c:plotArea>
    <c:plotVisOnly val="1"/>
    <c:dispBlanksAs val="span"/>
  </c:chart>
  <c:spPr>
    <a:solidFill>
      <a:srgbClr val="F5F5F7"/>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Segment 1</c:v>
                </c:pt>
              </c:strCache>
            </c:strRef>
          </c:tx>
          <c:spPr>
            <a:solidFill>
              <a:srgbClr val="D1D1D6"/>
            </a:solidFill>
            <a:effectLst/>
          </c:spPr>
          <c:invertIfNegative val="0"/>
          <c:dLbls>
            <c:numFmt formatCode="&quot;$&quot;0&quot;M&quot;"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Q4 23</c:v>
                  </c:pt>
                  <c:pt idx="1">
                    <c:v>Q4 24</c:v>
                  </c:pt>
                </c:lvl>
              </c:multiLvlStrCache>
            </c:multiLvlStrRef>
          </c:cat>
          <c:val>
            <c:numRef>
              <c:f>Sheet1!$B$2:$B$3</c:f>
              <c:numCache>
                <c:formatCode>General</c:formatCode>
                <c:ptCount val="2"/>
                <c:pt idx="0">
                  <c:v>13</c:v>
                </c:pt>
                <c:pt idx="1">
                  <c:v>14</c:v>
                </c:pt>
              </c:numCache>
            </c:numRef>
          </c:val>
        </c:ser>
        <c:ser>
          <c:idx val="1"/>
          <c:order val="1"/>
          <c:tx>
            <c:strRef>
              <c:f>Sheet1!$C$1</c:f>
              <c:strCache>
                <c:ptCount val="1"/>
                <c:pt idx="0">
                  <c:v>Segment 2</c:v>
                </c:pt>
              </c:strCache>
            </c:strRef>
          </c:tx>
          <c:spPr>
            <a:solidFill>
              <a:srgbClr val="AEAEB2"/>
            </a:solidFill>
            <a:effectLst/>
          </c:spPr>
          <c:invertIfNegative val="0"/>
          <c:dLbls>
            <c:numFmt formatCode="&quot;$&quot;0&quot;M&quot;"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Q4 23</c:v>
                  </c:pt>
                  <c:pt idx="1">
                    <c:v>Q4 24</c:v>
                  </c:pt>
                </c:lvl>
              </c:multiLvlStrCache>
            </c:multiLvlStrRef>
          </c:cat>
          <c:val>
            <c:numRef>
              <c:f>Sheet1!$C$2:$C$3</c:f>
              <c:numCache>
                <c:formatCode>General</c:formatCode>
                <c:ptCount val="2"/>
                <c:pt idx="0">
                  <c:v>15</c:v>
                </c:pt>
                <c:pt idx="1">
                  <c:v>16</c:v>
                </c:pt>
              </c:numCache>
            </c:numRef>
          </c:val>
        </c:ser>
        <c:dLbls>
          <c:numFmt formatCode="&quot;$&quot;0&quot;M&quot;"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7C7C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max val="34"/>
          <c:min val="0"/>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F5F5F7"/>
        </a:solidFill>
        <a:ln>
          <a:noFill/>
        </a:ln>
        <a:effectLst/>
      </c:spPr>
    </c:plotArea>
    <c:plotVisOnly val="1"/>
    <c:dispBlanksAs val="span"/>
  </c:chart>
  <c:spPr>
    <a:solidFill>
      <a:srgbClr val="F5F5F7"/>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Segment 1</c:v>
                </c:pt>
              </c:strCache>
            </c:strRef>
          </c:tx>
          <c:spPr>
            <a:solidFill>
              <a:srgbClr val="D1D1D6"/>
            </a:solidFill>
            <a:effectLst/>
          </c:spPr>
          <c:invertIfNegative val="0"/>
          <c:dLbls>
            <c:numFmt formatCode="&quot;$&quot;0&quot;M&quot;"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Q4 23</c:v>
                  </c:pt>
                  <c:pt idx="1">
                    <c:v>Q4 24</c:v>
                  </c:pt>
                </c:lvl>
              </c:multiLvlStrCache>
            </c:multiLvlStrRef>
          </c:cat>
          <c:val>
            <c:numRef>
              <c:f>Sheet1!$B$2:$B$3</c:f>
              <c:numCache>
                <c:formatCode>General</c:formatCode>
                <c:ptCount val="2"/>
                <c:pt idx="0">
                  <c:v>12</c:v>
                </c:pt>
                <c:pt idx="1">
                  <c:v>13</c:v>
                </c:pt>
              </c:numCache>
            </c:numRef>
          </c:val>
        </c:ser>
        <c:ser>
          <c:idx val="1"/>
          <c:order val="1"/>
          <c:tx>
            <c:strRef>
              <c:f>Sheet1!$C$1</c:f>
              <c:strCache>
                <c:ptCount val="1"/>
                <c:pt idx="0">
                  <c:v>Segment 2</c:v>
                </c:pt>
              </c:strCache>
            </c:strRef>
          </c:tx>
          <c:spPr>
            <a:solidFill>
              <a:srgbClr val="AEAEB2"/>
            </a:solidFill>
            <a:effectLst/>
          </c:spPr>
          <c:invertIfNegative val="0"/>
          <c:dLbls>
            <c:numFmt formatCode="&quot;$&quot;0&quot;M&quot;"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Q4 23</c:v>
                  </c:pt>
                  <c:pt idx="1">
                    <c:v>Q4 24</c:v>
                  </c:pt>
                </c:lvl>
              </c:multiLvlStrCache>
            </c:multiLvlStrRef>
          </c:cat>
          <c:val>
            <c:numRef>
              <c:f>Sheet1!$C$2:$C$3</c:f>
              <c:numCache>
                <c:formatCode>General</c:formatCode>
                <c:ptCount val="2"/>
                <c:pt idx="0">
                  <c:v>14</c:v>
                </c:pt>
                <c:pt idx="1">
                  <c:v>15</c:v>
                </c:pt>
              </c:numCache>
            </c:numRef>
          </c:val>
        </c:ser>
        <c:dLbls>
          <c:numFmt formatCode="&quot;$&quot;0&quot;M&quot;"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7C7C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max val="34"/>
          <c:min val="0"/>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F5F5F7"/>
        </a:solidFill>
        <a:ln>
          <a:noFill/>
        </a:ln>
        <a:effectLst/>
      </c:spPr>
    </c:plotArea>
    <c:plotVisOnly val="1"/>
    <c:dispBlanksAs val="span"/>
  </c:chart>
  <c:spPr>
    <a:solidFill>
      <a:srgbClr val="F5F5F7"/>
    </a:solid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Retail revenue growth</c:v>
                </c:pt>
              </c:strCache>
            </c:strRef>
          </c:tx>
          <c:spPr>
            <a:solidFill>
              <a:srgbClr val="AEAEB2"/>
            </a:solidFill>
            <a:effectLst/>
          </c:spPr>
          <c:invertIfNegative val="0"/>
          <c:dLbls>
            <c:numFmt formatCode="#,##0"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Sheet1!$B$2:$B$5</c:f>
              <c:numCache>
                <c:formatCode>General</c:formatCode>
                <c:ptCount val="4"/>
                <c:pt idx="0">
                  <c:v>8</c:v>
                </c:pt>
                <c:pt idx="1">
                  <c:v>12</c:v>
                </c:pt>
                <c:pt idx="2">
                  <c:v>17</c:v>
                </c:pt>
                <c:pt idx="3">
                  <c:v>16</c:v>
                </c:pt>
              </c:numCache>
            </c:numRef>
          </c:val>
        </c:ser>
        <c:dLbls>
          <c:numFmt formatCode="#,##0"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7C7C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F5F5F7"/>
        </a:solidFill>
        <a:ln>
          <a:noFill/>
        </a:ln>
        <a:effectLst/>
      </c:spPr>
    </c:plotArea>
    <c:plotVisOnly val="1"/>
    <c:dispBlanksAs val="span"/>
  </c:chart>
  <c:spPr>
    <a:solidFill>
      <a:srgbClr val="F5F5F7"/>
    </a:solid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E-commerce revenue growth</c:v>
                </c:pt>
              </c:strCache>
            </c:strRef>
          </c:tx>
          <c:spPr>
            <a:solidFill>
              <a:srgbClr val="AEAEB2"/>
            </a:solidFill>
            <a:effectLst/>
          </c:spPr>
          <c:invertIfNegative val="0"/>
          <c:dLbls>
            <c:numFmt formatCode="#,##0"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Sheet1!$B$2:$B$5</c:f>
              <c:numCache>
                <c:formatCode>General</c:formatCode>
                <c:ptCount val="4"/>
                <c:pt idx="0">
                  <c:v>10</c:v>
                </c:pt>
                <c:pt idx="1">
                  <c:v>15</c:v>
                </c:pt>
                <c:pt idx="2">
                  <c:v>20</c:v>
                </c:pt>
                <c:pt idx="3">
                  <c:v>20</c:v>
                </c:pt>
              </c:numCache>
            </c:numRef>
          </c:val>
        </c:ser>
        <c:dLbls>
          <c:numFmt formatCode="#,##0" sourceLinked="0"/>
          <c:txPr>
            <a:bodyPr/>
            <a:lstStyle/>
            <a:p>
              <a:pPr>
                <a:defRPr b="0" i="0" strike="noStrike" sz="650" u="none">
                  <a:solidFill>
                    <a:srgbClr val="1C1C1E"/>
                  </a:solidFill>
                  <a:latin typeface="Arial"/>
                </a:defRPr>
              </a:pPr>
            </a:p>
          </c:txPr>
          <c:dLblPos val="ct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7C7C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F5F5F7"/>
        </a:solidFill>
        <a:ln>
          <a:noFill/>
        </a:ln>
        <a:effectLst/>
      </c:spPr>
    </c:plotArea>
    <c:plotVisOnly val="1"/>
    <c:dispBlanksAs val="span"/>
  </c:chart>
  <c:spPr>
    <a:solidFill>
      <a:srgbClr val="F5F5F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Replace the grey second line with the reporting period (e.g. Q4 FY2024).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large block on the right with a photo. Keep the small offset block behind it — it is what ties this slide to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Bento grid: swap quotes / stats freely; keep the two accent (light) cards diagonal for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chart" Target="/ppt/charts/chart26.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chart" Target="/ppt/charts/chart32.xml"/><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3.xml"/><Relationship Id="rId2" Type="http://schemas.openxmlformats.org/officeDocument/2006/relationships/chart" Target="/ppt/charts/chart34.xm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74320"/>
            <a:ext cx="7315200" cy="1554480"/>
          </a:xfrm>
          <a:prstGeom prst="rect">
            <a:avLst/>
          </a:prstGeom>
          <a:noFill/>
          <a:ln/>
        </p:spPr>
        <p:txBody>
          <a:bodyPr wrap="square" lIns="0" tIns="0" rIns="0" bIns="0" rtlCol="0" anchor="t"/>
          <a:lstStyle/>
          <a:p>
            <a:pPr indent="0" marL="0">
              <a:lnSpc>
                <a:spcPct val="95000"/>
              </a:lnSpc>
              <a:buNone/>
            </a:pPr>
            <a:r>
              <a:rPr lang="en-US" sz="4000" b="1" dirty="0">
                <a:solidFill>
                  <a:srgbClr val="000000"/>
                </a:solidFill>
                <a:latin typeface="Arial" pitchFamily="34" charset="0"/>
                <a:ea typeface="Arial" pitchFamily="34" charset="-122"/>
                <a:cs typeface="Arial" pitchFamily="34" charset="-120"/>
              </a:rPr>
              <a:t>Financial report</a:t>
            </a:r>
            <a:endParaRPr lang="en-US" sz="4000" dirty="0"/>
          </a:p>
          <a:p>
            <a:pPr indent="0" marL="0">
              <a:lnSpc>
                <a:spcPct val="95000"/>
              </a:lnSpc>
              <a:buNone/>
            </a:pPr>
            <a:r>
              <a:rPr lang="en-US" sz="4000" b="1" dirty="0">
                <a:solidFill>
                  <a:srgbClr val="8E8E93"/>
                </a:solidFill>
                <a:latin typeface="Arial" pitchFamily="34" charset="0"/>
                <a:ea typeface="Arial" pitchFamily="34" charset="-122"/>
                <a:cs typeface="Arial" pitchFamily="34" charset="-120"/>
              </a:rPr>
              <a:t>Template</a:t>
            </a:r>
            <a:endParaRPr lang="en-US" sz="4000" dirty="0"/>
          </a:p>
        </p:txBody>
      </p:sp>
      <p:sp>
        <p:nvSpPr>
          <p:cNvPr id="3" name="Text 1"/>
          <p:cNvSpPr txBox="1"/>
          <p:nvPr/>
        </p:nvSpPr>
        <p:spPr>
          <a:xfrm>
            <a:off x="320040" y="4681728"/>
            <a:ext cx="2743200" cy="329184"/>
          </a:xfrm>
          <a:prstGeom prst="rect">
            <a:avLst/>
          </a:prstGeom>
          <a:noFill/>
          <a:ln/>
        </p:spPr>
        <p:txBody>
          <a:bodyPr wrap="square" lIns="0" tIns="0" rIns="0" bIns="0" rtlCol="0" anchor="b"/>
          <a:lstStyle/>
          <a:p>
            <a:pPr indent="0" marL="0">
              <a:buNone/>
            </a:pPr>
            <a:r>
              <a:rPr lang="en-US" sz="700" dirty="0">
                <a:solidFill>
                  <a:srgbClr val="000000"/>
                </a:solidFill>
                <a:latin typeface="Arial" pitchFamily="34" charset="0"/>
                <a:ea typeface="Arial" pitchFamily="34" charset="-122"/>
                <a:cs typeface="Arial" pitchFamily="34" charset="-120"/>
              </a:rPr>
              <a:t>© Company</a:t>
            </a:r>
            <a:endParaRPr lang="en-US" sz="700" dirty="0"/>
          </a:p>
          <a:p>
            <a:pPr indent="0" marL="0">
              <a:buNone/>
            </a:pPr>
            <a:r>
              <a:rPr lang="en-US" sz="700" dirty="0">
                <a:solidFill>
                  <a:srgbClr val="000000"/>
                </a:solidFill>
                <a:latin typeface="Arial" pitchFamily="34" charset="0"/>
                <a:ea typeface="Arial" pitchFamily="34" charset="-122"/>
                <a:cs typeface="Arial" pitchFamily="34" charset="-120"/>
              </a:rPr>
              <a:t>Date</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74320"/>
            <a:ext cx="2743200" cy="274320"/>
          </a:xfrm>
          <a:prstGeom prst="rect">
            <a:avLst/>
          </a:prstGeom>
          <a:noFill/>
          <a:ln/>
        </p:spPr>
        <p:txBody>
          <a:bodyPr wrap="square" lIns="0" tIns="0" rIns="0" bIns="0" rtlCol="0" anchor="ctr"/>
          <a:lstStyle/>
          <a:p>
            <a:pPr indent="0" marL="0">
              <a:buNone/>
            </a:pPr>
            <a:r>
              <a:rPr lang="en-US" sz="1100" dirty="0">
                <a:solidFill>
                  <a:srgbClr val="8E8E93"/>
                </a:solidFill>
                <a:latin typeface="Arial" pitchFamily="34" charset="0"/>
                <a:ea typeface="Arial" pitchFamily="34" charset="-122"/>
                <a:cs typeface="Arial" pitchFamily="34" charset="-120"/>
              </a:rPr>
              <a:t>Disclaimer</a:t>
            </a:r>
            <a:endParaRPr lang="en-US" sz="1100" dirty="0"/>
          </a:p>
        </p:txBody>
      </p:sp>
      <p:sp>
        <p:nvSpPr>
          <p:cNvPr id="3" name="Shape 1"/>
          <p:cNvSpPr/>
          <p:nvPr/>
        </p:nvSpPr>
        <p:spPr>
          <a:xfrm>
            <a:off x="3429000" y="274320"/>
            <a:ext cx="5394960" cy="4526280"/>
          </a:xfrm>
          <a:prstGeom prst="roundRect">
            <a:avLst>
              <a:gd name="adj" fmla="val 2020"/>
            </a:avLst>
          </a:prstGeom>
          <a:solidFill>
            <a:srgbClr val="F5F5F7"/>
          </a:solidFill>
          <a:ln w="12700">
            <a:solidFill>
              <a:srgbClr val="F5F5F7"/>
            </a:solidFill>
            <a:prstDash val="solid"/>
          </a:ln>
        </p:spPr>
      </p:sp>
      <p:sp>
        <p:nvSpPr>
          <p:cNvPr id="4" name="Text 2"/>
          <p:cNvSpPr txBox="1"/>
          <p:nvPr/>
        </p:nvSpPr>
        <p:spPr>
          <a:xfrm>
            <a:off x="3611880" y="411480"/>
            <a:ext cx="5029200" cy="4297680"/>
          </a:xfrm>
          <a:prstGeom prst="rect">
            <a:avLst/>
          </a:prstGeom>
          <a:noFill/>
          <a:ln/>
        </p:spPr>
        <p:txBody>
          <a:bodyPr wrap="square" lIns="0" tIns="0" rIns="0" bIns="0" rtlCol="0" anchor="t"/>
          <a:lstStyle/>
          <a:p>
            <a:pPr indent="0" marL="0">
              <a:buNone/>
            </a:pPr>
            <a:r>
              <a:rPr lang="en-US" sz="460" u="sng" dirty="0">
                <a:solidFill>
                  <a:srgbClr val="3A3A3C"/>
                </a:solidFill>
                <a:latin typeface="Arial" pitchFamily="34" charset="0"/>
                <a:ea typeface="Arial" pitchFamily="34" charset="-122"/>
                <a:cs typeface="Arial" pitchFamily="34" charset="-120"/>
              </a:rPr>
              <a:t>Safe Harbor Statement</a:t>
            </a:r>
            <a:endParaRPr lang="en-US" sz="460" dirty="0"/>
          </a:p>
          <a:p>
            <a:pPr indent="0" marL="0">
              <a:spcAft>
                <a:spcPts val="500"/>
              </a:spcAft>
              <a:buNone/>
            </a:pPr>
            <a:r>
              <a:rPr lang="en-US" sz="460" dirty="0">
                <a:solidFill>
                  <a:srgbClr val="8E8E93"/>
                </a:solidFill>
                <a:latin typeface="Arial" pitchFamily="34" charset="0"/>
                <a:ea typeface="Arial" pitchFamily="34" charset="-122"/>
                <a:cs typeface="Arial" pitchFamily="34" charset="-120"/>
              </a:rPr>
              <a:t>This presentation includes forward-looking statements that are made pursuant to the safe harbor provisions of the Private Securities Litigation Reform Act of 1995. Forward-looking statements can often be identified by the use of terminology such as "anticipates," "expects," "intends," "plans," "believes," "seeks," "estimates," "could," "should," "will," "may," "project," "forecast," and similar expressions. These statements reflect current expectations about future events and operating performance and speak only as of the date of this presentation. They are subject to risks, uncertainties, and other factors that could cause actual results to differ materially from those expressed or implied by the forward-looking statements.</a:t>
            </a:r>
            <a:endParaRPr lang="en-US" sz="460" dirty="0"/>
          </a:p>
          <a:p>
            <a:pPr indent="0" marL="0">
              <a:buNone/>
            </a:pPr>
            <a:r>
              <a:rPr lang="en-US" sz="460" u="sng" dirty="0">
                <a:solidFill>
                  <a:srgbClr val="3A3A3C"/>
                </a:solidFill>
                <a:latin typeface="Arial" pitchFamily="34" charset="0"/>
                <a:ea typeface="Arial" pitchFamily="34" charset="-122"/>
                <a:cs typeface="Arial" pitchFamily="34" charset="-120"/>
              </a:rPr>
              <a:t>Non-GAAP Financial Measures</a:t>
            </a:r>
            <a:endParaRPr lang="en-US" sz="460" dirty="0"/>
          </a:p>
          <a:p>
            <a:pPr indent="0" marL="0">
              <a:spcAft>
                <a:spcPts val="500"/>
              </a:spcAft>
              <a:buNone/>
            </a:pPr>
            <a:r>
              <a:rPr lang="en-US" sz="460" dirty="0">
                <a:solidFill>
                  <a:srgbClr val="8E8E93"/>
                </a:solidFill>
                <a:latin typeface="Arial" pitchFamily="34" charset="0"/>
                <a:ea typeface="Arial" pitchFamily="34" charset="-122"/>
                <a:cs typeface="Arial" pitchFamily="34" charset="-120"/>
              </a:rPr>
              <a:t>In this presentation, we may discuss non-GAAP financial measures. These measures are not prepared in accordance with Generally Accepted Accounting Principles (GAAP) and may differ from non-GAAP financial measures used by other companies. Non-GAAP financial measures should not be considered as a substitute for, or superior to, financial measures calculated in accordance with GAAP. A reconciliation of these non-GAAP financial measures to the most directly comparable GAAP measures is included in our SEC filings and on our investor relations website.</a:t>
            </a:r>
            <a:endParaRPr lang="en-US" sz="460" dirty="0"/>
          </a:p>
          <a:p>
            <a:pPr indent="0" marL="0">
              <a:buNone/>
            </a:pPr>
            <a:r>
              <a:rPr lang="en-US" sz="460" u="sng" dirty="0">
                <a:solidFill>
                  <a:srgbClr val="3A3A3C"/>
                </a:solidFill>
                <a:latin typeface="Arial" pitchFamily="34" charset="0"/>
                <a:ea typeface="Arial" pitchFamily="34" charset="-122"/>
                <a:cs typeface="Arial" pitchFamily="34" charset="-120"/>
              </a:rPr>
              <a:t>Industry and Market Data</a:t>
            </a:r>
            <a:endParaRPr lang="en-US" sz="460" dirty="0"/>
          </a:p>
          <a:p>
            <a:pPr indent="0" marL="0">
              <a:spcAft>
                <a:spcPts val="500"/>
              </a:spcAft>
              <a:buNone/>
            </a:pPr>
            <a:r>
              <a:rPr lang="en-US" sz="460" dirty="0">
                <a:solidFill>
                  <a:srgbClr val="8E8E93"/>
                </a:solidFill>
                <a:latin typeface="Arial" pitchFamily="34" charset="0"/>
                <a:ea typeface="Arial" pitchFamily="34" charset="-122"/>
                <a:cs typeface="Arial" pitchFamily="34" charset="-120"/>
              </a:rPr>
              <a:t>This presentation contains estimates and other statistical data made by independent parties and by us relating to market size and growth, as well as other industry data. This data involves a number of assumptions and limitations, and you are cautioned not to give undue weight to such estimates. While we believe these sources are reliable, we have not independently verified the accuracy or completeness of the information.</a:t>
            </a:r>
            <a:endParaRPr lang="en-US" sz="460" dirty="0"/>
          </a:p>
          <a:p>
            <a:pPr indent="0" marL="0">
              <a:buNone/>
            </a:pPr>
            <a:r>
              <a:rPr lang="en-US" sz="460" u="sng" dirty="0">
                <a:solidFill>
                  <a:srgbClr val="3A3A3C"/>
                </a:solidFill>
                <a:latin typeface="Arial" pitchFamily="34" charset="0"/>
                <a:ea typeface="Arial" pitchFamily="34" charset="-122"/>
                <a:cs typeface="Arial" pitchFamily="34" charset="-120"/>
              </a:rPr>
              <a:t>Third-Party Information</a:t>
            </a:r>
            <a:endParaRPr lang="en-US" sz="460" dirty="0"/>
          </a:p>
          <a:p>
            <a:pPr indent="0" marL="0">
              <a:spcAft>
                <a:spcPts val="500"/>
              </a:spcAft>
              <a:buNone/>
            </a:pPr>
            <a:r>
              <a:rPr lang="en-US" sz="460" dirty="0">
                <a:solidFill>
                  <a:srgbClr val="8E8E93"/>
                </a:solidFill>
                <a:latin typeface="Arial" pitchFamily="34" charset="0"/>
                <a:ea typeface="Arial" pitchFamily="34" charset="-122"/>
                <a:cs typeface="Arial" pitchFamily="34" charset="-120"/>
              </a:rPr>
              <a:t>Throughout this presentation, we may reference various third-party websites, data, or other information. We have not independently verified the accuracy or completeness of such information and make no representations about its accuracy or completeness.</a:t>
            </a:r>
            <a:endParaRPr lang="en-US" sz="460" dirty="0"/>
          </a:p>
          <a:p>
            <a:pPr indent="0" marL="0">
              <a:buNone/>
            </a:pPr>
            <a:r>
              <a:rPr lang="en-US" sz="460" u="sng" dirty="0">
                <a:solidFill>
                  <a:srgbClr val="3A3A3C"/>
                </a:solidFill>
                <a:latin typeface="Arial" pitchFamily="34" charset="0"/>
                <a:ea typeface="Arial" pitchFamily="34" charset="-122"/>
                <a:cs typeface="Arial" pitchFamily="34" charset="-120"/>
              </a:rPr>
              <a:t>Trademarks</a:t>
            </a:r>
            <a:endParaRPr lang="en-US" sz="460" dirty="0"/>
          </a:p>
          <a:p>
            <a:pPr indent="0" marL="0">
              <a:spcAft>
                <a:spcPts val="500"/>
              </a:spcAft>
              <a:buNone/>
            </a:pPr>
            <a:r>
              <a:rPr lang="en-US" sz="460" dirty="0">
                <a:solidFill>
                  <a:srgbClr val="8E8E93"/>
                </a:solidFill>
                <a:latin typeface="Arial" pitchFamily="34" charset="0"/>
                <a:ea typeface="Arial" pitchFamily="34" charset="-122"/>
                <a:cs typeface="Arial" pitchFamily="34" charset="-120"/>
              </a:rPr>
              <a:t>All trademarks, service marks, and trade names appearing in this presentation are the property of their respective owners.</a:t>
            </a:r>
            <a:endParaRPr lang="en-US" sz="460" dirty="0"/>
          </a:p>
          <a:p>
            <a:pPr indent="0" marL="0">
              <a:buNone/>
            </a:pPr>
            <a:r>
              <a:rPr lang="en-US" sz="460" u="sng" dirty="0">
                <a:solidFill>
                  <a:srgbClr val="3A3A3C"/>
                </a:solidFill>
                <a:latin typeface="Arial" pitchFamily="34" charset="0"/>
                <a:ea typeface="Arial" pitchFamily="34" charset="-122"/>
                <a:cs typeface="Arial" pitchFamily="34" charset="-120"/>
              </a:rPr>
              <a:t>Responsibility for Own Assessment</a:t>
            </a:r>
            <a:endParaRPr lang="en-US" sz="460" dirty="0"/>
          </a:p>
          <a:p>
            <a:pPr indent="0" marL="0">
              <a:spcAft>
                <a:spcPts val="500"/>
              </a:spcAft>
              <a:buNone/>
            </a:pPr>
            <a:r>
              <a:rPr lang="en-US" sz="460" dirty="0">
                <a:solidFill>
                  <a:srgbClr val="8E8E93"/>
                </a:solidFill>
                <a:latin typeface="Arial" pitchFamily="34" charset="0"/>
                <a:ea typeface="Arial" pitchFamily="34" charset="-122"/>
                <a:cs typeface="Arial" pitchFamily="34" charset="-120"/>
              </a:rPr>
              <a:t>By attending or receiving this presentation, you acknowledge that you are solely responsible for your own assessment of the market and our position in it, and that you will conduct your own independent analysis.</a:t>
            </a:r>
            <a:endParaRPr lang="en-US" sz="460" dirty="0"/>
          </a:p>
          <a:p>
            <a:pPr indent="0" marL="0">
              <a:buNone/>
            </a:pPr>
            <a:r>
              <a:rPr lang="en-US" sz="460" u="sng" dirty="0">
                <a:solidFill>
                  <a:srgbClr val="3A3A3C"/>
                </a:solidFill>
                <a:latin typeface="Arial" pitchFamily="34" charset="0"/>
                <a:ea typeface="Arial" pitchFamily="34" charset="-122"/>
                <a:cs typeface="Arial" pitchFamily="34" charset="-120"/>
              </a:rPr>
              <a:t>Contact Information</a:t>
            </a:r>
            <a:endParaRPr lang="en-US" sz="460" dirty="0"/>
          </a:p>
          <a:p>
            <a:pPr indent="0" marL="0">
              <a:spcAft>
                <a:spcPts val="500"/>
              </a:spcAft>
              <a:buNone/>
            </a:pPr>
            <a:r>
              <a:rPr lang="en-US" sz="460" dirty="0">
                <a:solidFill>
                  <a:srgbClr val="8E8E93"/>
                </a:solidFill>
                <a:latin typeface="Arial" pitchFamily="34" charset="0"/>
                <a:ea typeface="Arial" pitchFamily="34" charset="-122"/>
                <a:cs typeface="Arial" pitchFamily="34" charset="-120"/>
              </a:rPr>
              <a:t>For additional information, please refer to our investor relations website or contact our investor relations team.</a:t>
            </a:r>
            <a:endParaRPr lang="en-US" sz="460" dirty="0"/>
          </a:p>
        </p:txBody>
      </p:sp>
      <p:sp>
        <p:nvSpPr>
          <p:cNvPr id="5" name="Text 3"/>
          <p:cNvSpPr txBox="1"/>
          <p:nvPr/>
        </p:nvSpPr>
        <p:spPr>
          <a:xfrm>
            <a:off x="320040" y="4681728"/>
            <a:ext cx="2743200" cy="329184"/>
          </a:xfrm>
          <a:prstGeom prst="rect">
            <a:avLst/>
          </a:prstGeom>
          <a:noFill/>
          <a:ln/>
        </p:spPr>
        <p:txBody>
          <a:bodyPr wrap="square" lIns="0" tIns="0" rIns="0" bIns="0" rtlCol="0" anchor="b"/>
          <a:lstStyle/>
          <a:p>
            <a:pPr indent="0" marL="0">
              <a:buNone/>
            </a:pPr>
            <a:r>
              <a:rPr lang="en-US" sz="700" dirty="0">
                <a:solidFill>
                  <a:srgbClr val="000000"/>
                </a:solidFill>
                <a:latin typeface="Arial" pitchFamily="34" charset="0"/>
                <a:ea typeface="Arial" pitchFamily="34" charset="-122"/>
                <a:cs typeface="Arial" pitchFamily="34" charset="-120"/>
              </a:rPr>
              <a:t>© Company</a:t>
            </a:r>
            <a:endParaRPr lang="en-US" sz="700" dirty="0"/>
          </a:p>
          <a:p>
            <a:pPr indent="0" marL="0">
              <a:buNone/>
            </a:pPr>
            <a:r>
              <a:rPr lang="en-US" sz="700" dirty="0">
                <a:solidFill>
                  <a:srgbClr val="000000"/>
                </a:solidFill>
                <a:latin typeface="Arial" pitchFamily="34" charset="0"/>
                <a:ea typeface="Arial" pitchFamily="34" charset="-122"/>
                <a:cs typeface="Arial" pitchFamily="34" charset="-120"/>
              </a:rPr>
              <a:t>Date</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FY 2024</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000000"/>
                </a:solidFill>
                <a:latin typeface="Arial" pitchFamily="34" charset="0"/>
                <a:ea typeface="Arial" pitchFamily="34" charset="-122"/>
                <a:cs typeface="Arial" pitchFamily="34" charset="-120"/>
              </a:rPr>
              <a:t>Highlights</a:t>
            </a:r>
            <a:endParaRPr lang="en-US" sz="2200" dirty="0"/>
          </a:p>
        </p:txBody>
      </p:sp>
      <p:sp>
        <p:nvSpPr>
          <p:cNvPr id="4" name="Text 2"/>
          <p:cNvSpPr txBox="1"/>
          <p:nvPr/>
        </p:nvSpPr>
        <p:spPr>
          <a:xfrm>
            <a:off x="320040" y="1371600"/>
            <a:ext cx="3931920" cy="3520440"/>
          </a:xfrm>
          <a:prstGeom prst="rect">
            <a:avLst/>
          </a:prstGeom>
          <a:noFill/>
          <a:ln/>
        </p:spPr>
        <p:txBody>
          <a:bodyPr wrap="square" lIns="0" tIns="0" rIns="0" bIns="0" rtlCol="0" anchor="t"/>
          <a:lstStyle/>
          <a:p>
            <a:pPr marL="342900" indent="-342900">
              <a:spcAft>
                <a:spcPts val="1400"/>
              </a:spcAft>
              <a:buSzPct val="100000"/>
              <a:buChar char="▸"/>
            </a:pPr>
            <a:r>
              <a:rPr lang="en-US" sz="1100" dirty="0">
                <a:solidFill>
                  <a:srgbClr val="000000"/>
                </a:solidFill>
                <a:latin typeface="Arial" pitchFamily="34" charset="0"/>
                <a:ea typeface="Arial" pitchFamily="34" charset="-122"/>
                <a:cs typeface="Arial" pitchFamily="34" charset="-120"/>
              </a:rPr>
              <a:t>Revenue grew +18% Y/Y to $525 million</a:t>
            </a:r>
            <a:endParaRPr lang="en-US" sz="1100" dirty="0"/>
          </a:p>
          <a:p>
            <a:pPr marL="342900" indent="-342900">
              <a:spcAft>
                <a:spcPts val="1400"/>
              </a:spcAft>
              <a:buSzPct val="100000"/>
              <a:buChar char="▸"/>
            </a:pPr>
            <a:r>
              <a:rPr lang="en-US" sz="1100" dirty="0">
                <a:solidFill>
                  <a:srgbClr val="000000"/>
                </a:solidFill>
                <a:latin typeface="Arial" pitchFamily="34" charset="0"/>
                <a:ea typeface="Arial" pitchFamily="34" charset="-122"/>
                <a:cs typeface="Arial" pitchFamily="34" charset="-120"/>
              </a:rPr>
              <a:t>US revenue grew +23% Y/Y to $337 million</a:t>
            </a:r>
            <a:endParaRPr lang="en-US" sz="1100" dirty="0"/>
          </a:p>
          <a:p>
            <a:pPr marL="342900" indent="-342900">
              <a:spcAft>
                <a:spcPts val="1400"/>
              </a:spcAft>
              <a:buSzPct val="100000"/>
              <a:buChar char="▸"/>
            </a:pPr>
            <a:r>
              <a:rPr lang="en-US" sz="1100" dirty="0">
                <a:solidFill>
                  <a:srgbClr val="000000"/>
                </a:solidFill>
                <a:latin typeface="Arial" pitchFamily="34" charset="0"/>
                <a:ea typeface="Arial" pitchFamily="34" charset="-122"/>
                <a:cs typeface="Arial" pitchFamily="34" charset="-120"/>
              </a:rPr>
              <a:t>US commercial revenue grew +26% Y/Y and +39% Q/Q to $107 million</a:t>
            </a:r>
            <a:endParaRPr lang="en-US" sz="1100" dirty="0"/>
          </a:p>
        </p:txBody>
      </p:sp>
      <p:sp>
        <p:nvSpPr>
          <p:cNvPr id="5" name="Shape 3"/>
          <p:cNvSpPr/>
          <p:nvPr/>
        </p:nvSpPr>
        <p:spPr>
          <a:xfrm>
            <a:off x="4617720" y="3017520"/>
            <a:ext cx="1828800" cy="1874520"/>
          </a:xfrm>
          <a:prstGeom prst="roundRect">
            <a:avLst>
              <a:gd name="adj" fmla="val 4000"/>
            </a:avLst>
          </a:prstGeom>
          <a:solidFill>
            <a:srgbClr val="8E8E93"/>
          </a:solidFill>
          <a:ln w="12700">
            <a:solidFill>
              <a:srgbClr val="8E8E93"/>
            </a:solidFill>
            <a:prstDash val="solid"/>
          </a:ln>
        </p:spPr>
      </p:sp>
      <p:sp>
        <p:nvSpPr>
          <p:cNvPr id="6" name="Shape 4"/>
          <p:cNvSpPr/>
          <p:nvPr/>
        </p:nvSpPr>
        <p:spPr>
          <a:xfrm>
            <a:off x="5120640" y="228600"/>
            <a:ext cx="3703320" cy="4663440"/>
          </a:xfrm>
          <a:prstGeom prst="roundRect">
            <a:avLst>
              <a:gd name="adj" fmla="val 1975"/>
            </a:avLst>
          </a:prstGeom>
          <a:solidFill>
            <a:srgbClr val="C7C7CC"/>
          </a:solidFill>
          <a:ln w="12700">
            <a:solidFill>
              <a:srgbClr val="C7C7CC"/>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Revenue</a:t>
            </a:r>
            <a:endParaRPr lang="en-US" sz="700" dirty="0"/>
          </a:p>
        </p:txBody>
      </p:sp>
      <p:sp>
        <p:nvSpPr>
          <p:cNvPr id="3" name="Text 1"/>
          <p:cNvSpPr txBox="1"/>
          <p:nvPr/>
        </p:nvSpPr>
        <p:spPr>
          <a:xfrm>
            <a:off x="320040" y="274320"/>
            <a:ext cx="6035040" cy="1143000"/>
          </a:xfrm>
          <a:prstGeom prst="rect">
            <a:avLst/>
          </a:prstGeom>
          <a:noFill/>
          <a:ln/>
        </p:spPr>
        <p:txBody>
          <a:bodyPr wrap="square" lIns="0" tIns="0" rIns="0" bIns="0" rtlCol="0" anchor="t"/>
          <a:lstStyle/>
          <a:p>
            <a:pPr indent="0" marL="0">
              <a:lnSpc>
                <a:spcPct val="95000"/>
              </a:lnSpc>
              <a:buNone/>
            </a:pPr>
            <a:r>
              <a:rPr lang="en-US" sz="3000" b="1" dirty="0">
                <a:solidFill>
                  <a:srgbClr val="000000"/>
                </a:solidFill>
                <a:latin typeface="Arial" pitchFamily="34" charset="0"/>
                <a:ea typeface="Arial" pitchFamily="34" charset="-122"/>
                <a:cs typeface="Arial" pitchFamily="34" charset="-120"/>
              </a:rPr>
              <a:t>Growth accelerated to</a:t>
            </a:r>
            <a:endParaRPr lang="en-US" sz="3000" dirty="0"/>
          </a:p>
          <a:p>
            <a:pPr indent="0" marL="0">
              <a:lnSpc>
                <a:spcPct val="95000"/>
              </a:lnSpc>
              <a:buNone/>
            </a:pPr>
            <a:r>
              <a:rPr lang="en-US" sz="3000" b="1" dirty="0">
                <a:solidFill>
                  <a:srgbClr val="000000"/>
                </a:solidFill>
                <a:latin typeface="Arial" pitchFamily="34" charset="0"/>
                <a:ea typeface="Arial" pitchFamily="34" charset="-122"/>
                <a:cs typeface="Arial" pitchFamily="34" charset="-120"/>
              </a:rPr>
              <a:t>81% year-over-year</a:t>
            </a:r>
            <a:endParaRPr lang="en-US" sz="3000" dirty="0"/>
          </a:p>
        </p:txBody>
      </p:sp>
      <p:graphicFrame>
        <p:nvGraphicFramePr>
          <p:cNvPr id="4" name="Chart 0" descr=""/>
          <p:cNvGraphicFramePr/>
          <p:nvPr/>
        </p:nvGraphicFramePr>
        <p:xfrm>
          <a:off x="91440" y="1417320"/>
          <a:ext cx="896112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645920" y="4828032"/>
            <a:ext cx="5852160" cy="274320"/>
          </a:xfrm>
          <a:prstGeom prst="rect">
            <a:avLst/>
          </a:prstGeom>
          <a:noFill/>
          <a:ln/>
        </p:spPr>
        <p:txBody>
          <a:bodyPr wrap="square" lIns="0" tIns="0" rIns="0" bIns="0" rtlCol="0" anchor="t"/>
          <a:lstStyle/>
          <a:p>
            <a:pPr indent="0" marL="0">
              <a:buNone/>
            </a:pPr>
            <a:r>
              <a:rPr lang="en-US" sz="400" dirty="0">
                <a:solidFill>
                  <a:srgbClr val="8E8E93"/>
                </a:solidFill>
                <a:latin typeface="Arial" pitchFamily="34" charset="0"/>
                <a:ea typeface="Arial" pitchFamily="34" charset="-122"/>
                <a:cs typeface="Arial" pitchFamily="34" charset="-120"/>
              </a:rPr>
              <a:t>Source: company filings and internal reporting. All figures in this template are illustrative placeholders — replace them with reported values before distribution. Non-GAAP measures are reconciled to the most directly comparable GAAP measures in the appendix.</a:t>
            </a:r>
            <a:endParaRPr lang="en-US" sz="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Net income</a:t>
            </a:r>
            <a:endParaRPr lang="en-US" sz="700" dirty="0"/>
          </a:p>
        </p:txBody>
      </p:sp>
      <p:sp>
        <p:nvSpPr>
          <p:cNvPr id="3" name="Text 1"/>
          <p:cNvSpPr txBox="1"/>
          <p:nvPr/>
        </p:nvSpPr>
        <p:spPr>
          <a:xfrm>
            <a:off x="320040" y="274320"/>
            <a:ext cx="6035040" cy="1143000"/>
          </a:xfrm>
          <a:prstGeom prst="rect">
            <a:avLst/>
          </a:prstGeom>
          <a:noFill/>
          <a:ln/>
        </p:spPr>
        <p:txBody>
          <a:bodyPr wrap="square" lIns="0" tIns="0" rIns="0" bIns="0" rtlCol="0" anchor="t"/>
          <a:lstStyle/>
          <a:p>
            <a:pPr indent="0" marL="0">
              <a:lnSpc>
                <a:spcPct val="95000"/>
              </a:lnSpc>
              <a:buNone/>
            </a:pPr>
            <a:r>
              <a:rPr lang="en-US" sz="3000" b="1" dirty="0">
                <a:solidFill>
                  <a:srgbClr val="000000"/>
                </a:solidFill>
                <a:latin typeface="Arial" pitchFamily="34" charset="0"/>
                <a:ea typeface="Arial" pitchFamily="34" charset="-122"/>
                <a:cs typeface="Arial" pitchFamily="34" charset="-120"/>
              </a:rPr>
              <a:t>Net income</a:t>
            </a:r>
            <a:endParaRPr lang="en-US" sz="3000" dirty="0"/>
          </a:p>
          <a:p>
            <a:pPr indent="0" marL="0">
              <a:lnSpc>
                <a:spcPct val="95000"/>
              </a:lnSpc>
              <a:buNone/>
            </a:pPr>
            <a:r>
              <a:rPr lang="en-US" sz="3000" b="1" dirty="0">
                <a:solidFill>
                  <a:srgbClr val="000000"/>
                </a:solidFill>
                <a:latin typeface="Arial" pitchFamily="34" charset="0"/>
                <a:ea typeface="Arial" pitchFamily="34" charset="-122"/>
                <a:cs typeface="Arial" pitchFamily="34" charset="-120"/>
              </a:rPr>
              <a:t>of $343 million</a:t>
            </a:r>
            <a:endParaRPr lang="en-US" sz="3000" dirty="0"/>
          </a:p>
        </p:txBody>
      </p:sp>
      <p:graphicFrame>
        <p:nvGraphicFramePr>
          <p:cNvPr id="4" name="Chart 0" descr=""/>
          <p:cNvGraphicFramePr/>
          <p:nvPr/>
        </p:nvGraphicFramePr>
        <p:xfrm>
          <a:off x="91440" y="1234440"/>
          <a:ext cx="8961120" cy="3474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645920" y="4828032"/>
            <a:ext cx="5852160" cy="274320"/>
          </a:xfrm>
          <a:prstGeom prst="rect">
            <a:avLst/>
          </a:prstGeom>
          <a:noFill/>
          <a:ln/>
        </p:spPr>
        <p:txBody>
          <a:bodyPr wrap="square" lIns="0" tIns="0" rIns="0" bIns="0" rtlCol="0" anchor="t"/>
          <a:lstStyle/>
          <a:p>
            <a:pPr indent="0" marL="0">
              <a:buNone/>
            </a:pPr>
            <a:r>
              <a:rPr lang="en-US" sz="400" dirty="0">
                <a:solidFill>
                  <a:srgbClr val="8E8E93"/>
                </a:solidFill>
                <a:latin typeface="Arial" pitchFamily="34" charset="0"/>
                <a:ea typeface="Arial" pitchFamily="34" charset="-122"/>
                <a:cs typeface="Arial" pitchFamily="34" charset="-120"/>
              </a:rPr>
              <a:t>Source: company filings and internal reporting. All figures in this template are illustrative placeholders — replace them with reported values before distribution. Non-GAAP measures are reconciled to the most directly comparable GAAP measures in the appendix.</a:t>
            </a:r>
            <a:endParaRPr lang="en-US" sz="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Revenue</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000000"/>
                </a:solidFill>
                <a:latin typeface="Arial" pitchFamily="34" charset="0"/>
                <a:ea typeface="Arial" pitchFamily="34" charset="-122"/>
                <a:cs typeface="Arial" pitchFamily="34" charset="-120"/>
              </a:rPr>
              <a:t>Revenue by User Geography</a:t>
            </a:r>
            <a:endParaRPr lang="en-US" sz="2200" dirty="0"/>
          </a:p>
        </p:txBody>
      </p:sp>
      <p:sp>
        <p:nvSpPr>
          <p:cNvPr id="4" name="Shape 2"/>
          <p:cNvSpPr/>
          <p:nvPr/>
        </p:nvSpPr>
        <p:spPr>
          <a:xfrm>
            <a:off x="320040" y="850392"/>
            <a:ext cx="91440" cy="91440"/>
          </a:xfrm>
          <a:prstGeom prst="ellipse">
            <a:avLst/>
          </a:prstGeom>
          <a:solidFill>
            <a:srgbClr val="D1D1D6"/>
          </a:solidFill>
          <a:ln w="12700">
            <a:solidFill>
              <a:srgbClr val="D1D1D6"/>
            </a:solidFill>
            <a:prstDash val="solid"/>
          </a:ln>
        </p:spPr>
      </p:sp>
      <p:sp>
        <p:nvSpPr>
          <p:cNvPr id="5" name="Text 3"/>
          <p:cNvSpPr txBox="1"/>
          <p:nvPr/>
        </p:nvSpPr>
        <p:spPr>
          <a:xfrm>
            <a:off x="475488" y="822960"/>
            <a:ext cx="2011680" cy="146304"/>
          </a:xfrm>
          <a:prstGeom prst="rect">
            <a:avLst/>
          </a:prstGeom>
          <a:noFill/>
          <a:ln/>
        </p:spPr>
        <p:txBody>
          <a:bodyPr wrap="square" lIns="0" tIns="0" rIns="0" bIns="0" rtlCol="0" anchor="ctr"/>
          <a:lstStyle/>
          <a:p>
            <a:pPr indent="0" marL="0">
              <a:buNone/>
            </a:pPr>
            <a:r>
              <a:rPr lang="en-US" sz="650" dirty="0">
                <a:solidFill>
                  <a:srgbClr val="3A3A3C"/>
                </a:solidFill>
                <a:latin typeface="Arial" pitchFamily="34" charset="0"/>
                <a:ea typeface="Arial" pitchFamily="34" charset="-122"/>
                <a:cs typeface="Arial" pitchFamily="34" charset="-120"/>
              </a:rPr>
              <a:t>US &amp; Canada</a:t>
            </a:r>
            <a:endParaRPr lang="en-US" sz="650" dirty="0"/>
          </a:p>
        </p:txBody>
      </p:sp>
      <p:sp>
        <p:nvSpPr>
          <p:cNvPr id="6" name="Shape 4"/>
          <p:cNvSpPr/>
          <p:nvPr/>
        </p:nvSpPr>
        <p:spPr>
          <a:xfrm>
            <a:off x="320040" y="1024128"/>
            <a:ext cx="91440" cy="91440"/>
          </a:xfrm>
          <a:prstGeom prst="ellipse">
            <a:avLst/>
          </a:prstGeom>
          <a:solidFill>
            <a:srgbClr val="AEAEB2"/>
          </a:solidFill>
          <a:ln w="12700">
            <a:solidFill>
              <a:srgbClr val="AEAEB2"/>
            </a:solidFill>
            <a:prstDash val="solid"/>
          </a:ln>
        </p:spPr>
      </p:sp>
      <p:sp>
        <p:nvSpPr>
          <p:cNvPr id="7" name="Text 5"/>
          <p:cNvSpPr txBox="1"/>
          <p:nvPr/>
        </p:nvSpPr>
        <p:spPr>
          <a:xfrm>
            <a:off x="475488" y="996696"/>
            <a:ext cx="2011680" cy="146304"/>
          </a:xfrm>
          <a:prstGeom prst="rect">
            <a:avLst/>
          </a:prstGeom>
          <a:noFill/>
          <a:ln/>
        </p:spPr>
        <p:txBody>
          <a:bodyPr wrap="square" lIns="0" tIns="0" rIns="0" bIns="0" rtlCol="0" anchor="ctr"/>
          <a:lstStyle/>
          <a:p>
            <a:pPr indent="0" marL="0">
              <a:buNone/>
            </a:pPr>
            <a:r>
              <a:rPr lang="en-US" sz="650" dirty="0">
                <a:solidFill>
                  <a:srgbClr val="3A3A3C"/>
                </a:solidFill>
                <a:latin typeface="Arial" pitchFamily="34" charset="0"/>
                <a:ea typeface="Arial" pitchFamily="34" charset="-122"/>
                <a:cs typeface="Arial" pitchFamily="34" charset="-120"/>
              </a:rPr>
              <a:t>Europe</a:t>
            </a:r>
            <a:endParaRPr lang="en-US" sz="650" dirty="0"/>
          </a:p>
        </p:txBody>
      </p:sp>
      <p:sp>
        <p:nvSpPr>
          <p:cNvPr id="8" name="Shape 6"/>
          <p:cNvSpPr/>
          <p:nvPr/>
        </p:nvSpPr>
        <p:spPr>
          <a:xfrm>
            <a:off x="320040" y="1197864"/>
            <a:ext cx="91440" cy="91440"/>
          </a:xfrm>
          <a:prstGeom prst="ellipse">
            <a:avLst/>
          </a:prstGeom>
          <a:solidFill>
            <a:srgbClr val="8E8E93"/>
          </a:solidFill>
          <a:ln w="12700">
            <a:solidFill>
              <a:srgbClr val="8E8E93"/>
            </a:solidFill>
            <a:prstDash val="solid"/>
          </a:ln>
        </p:spPr>
      </p:sp>
      <p:sp>
        <p:nvSpPr>
          <p:cNvPr id="9" name="Text 7"/>
          <p:cNvSpPr txBox="1"/>
          <p:nvPr/>
        </p:nvSpPr>
        <p:spPr>
          <a:xfrm>
            <a:off x="475488" y="1170432"/>
            <a:ext cx="2011680" cy="146304"/>
          </a:xfrm>
          <a:prstGeom prst="rect">
            <a:avLst/>
          </a:prstGeom>
          <a:noFill/>
          <a:ln/>
        </p:spPr>
        <p:txBody>
          <a:bodyPr wrap="square" lIns="0" tIns="0" rIns="0" bIns="0" rtlCol="0" anchor="ctr"/>
          <a:lstStyle/>
          <a:p>
            <a:pPr indent="0" marL="0">
              <a:buNone/>
            </a:pPr>
            <a:r>
              <a:rPr lang="en-US" sz="650" dirty="0">
                <a:solidFill>
                  <a:srgbClr val="3A3A3C"/>
                </a:solidFill>
                <a:latin typeface="Arial" pitchFamily="34" charset="0"/>
                <a:ea typeface="Arial" pitchFamily="34" charset="-122"/>
                <a:cs typeface="Arial" pitchFamily="34" charset="-120"/>
              </a:rPr>
              <a:t>Asia-Pacific</a:t>
            </a:r>
            <a:endParaRPr lang="en-US" sz="650" dirty="0"/>
          </a:p>
        </p:txBody>
      </p:sp>
      <p:sp>
        <p:nvSpPr>
          <p:cNvPr id="10" name="Shape 8"/>
          <p:cNvSpPr/>
          <p:nvPr/>
        </p:nvSpPr>
        <p:spPr>
          <a:xfrm>
            <a:off x="320040" y="1371600"/>
            <a:ext cx="91440" cy="91440"/>
          </a:xfrm>
          <a:prstGeom prst="ellipse">
            <a:avLst/>
          </a:prstGeom>
          <a:solidFill>
            <a:srgbClr val="636366"/>
          </a:solidFill>
          <a:ln w="12700">
            <a:solidFill>
              <a:srgbClr val="636366"/>
            </a:solidFill>
            <a:prstDash val="solid"/>
          </a:ln>
        </p:spPr>
      </p:sp>
      <p:sp>
        <p:nvSpPr>
          <p:cNvPr id="11" name="Text 9"/>
          <p:cNvSpPr txBox="1"/>
          <p:nvPr/>
        </p:nvSpPr>
        <p:spPr>
          <a:xfrm>
            <a:off x="475488" y="1344168"/>
            <a:ext cx="2011680" cy="146304"/>
          </a:xfrm>
          <a:prstGeom prst="rect">
            <a:avLst/>
          </a:prstGeom>
          <a:noFill/>
          <a:ln/>
        </p:spPr>
        <p:txBody>
          <a:bodyPr wrap="square" lIns="0" tIns="0" rIns="0" bIns="0" rtlCol="0" anchor="ctr"/>
          <a:lstStyle/>
          <a:p>
            <a:pPr indent="0" marL="0">
              <a:buNone/>
            </a:pPr>
            <a:r>
              <a:rPr lang="en-US" sz="650" dirty="0">
                <a:solidFill>
                  <a:srgbClr val="3A3A3C"/>
                </a:solidFill>
                <a:latin typeface="Arial" pitchFamily="34" charset="0"/>
                <a:ea typeface="Arial" pitchFamily="34" charset="-122"/>
                <a:cs typeface="Arial" pitchFamily="34" charset="-120"/>
              </a:rPr>
              <a:t>Rest of World</a:t>
            </a:r>
            <a:endParaRPr lang="en-US" sz="650" dirty="0"/>
          </a:p>
        </p:txBody>
      </p:sp>
      <p:graphicFrame>
        <p:nvGraphicFramePr>
          <p:cNvPr id="12" name="Chart 0" descr=""/>
          <p:cNvGraphicFramePr/>
          <p:nvPr/>
        </p:nvGraphicFramePr>
        <p:xfrm>
          <a:off x="91440" y="1554480"/>
          <a:ext cx="8961120" cy="32004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02920" y="3231644"/>
            <a:ext cx="914400" cy="182880"/>
          </a:xfrm>
          <a:prstGeom prst="rect">
            <a:avLst/>
          </a:prstGeom>
          <a:noFill/>
          <a:ln/>
        </p:spPr>
        <p:txBody>
          <a:bodyPr wrap="square" lIns="0" tIns="0" rIns="0" bIns="0" rtlCol="0" anchor="ctr"/>
          <a:lstStyle/>
          <a:p>
            <a:pPr algn="ctr" indent="0" marL="0">
              <a:buNone/>
            </a:pPr>
            <a:r>
              <a:rPr lang="en-US" sz="700" b="1" dirty="0">
                <a:solidFill>
                  <a:srgbClr val="000000"/>
                </a:solidFill>
                <a:latin typeface="Arial" pitchFamily="34" charset="0"/>
                <a:ea typeface="Arial" pitchFamily="34" charset="-122"/>
                <a:cs typeface="Arial" pitchFamily="34" charset="-120"/>
              </a:rPr>
              <a:t>$115M</a:t>
            </a:r>
            <a:endParaRPr lang="en-US" sz="700" dirty="0"/>
          </a:p>
        </p:txBody>
      </p:sp>
      <p:sp>
        <p:nvSpPr>
          <p:cNvPr id="14" name="Text 11"/>
          <p:cNvSpPr txBox="1"/>
          <p:nvPr/>
        </p:nvSpPr>
        <p:spPr>
          <a:xfrm>
            <a:off x="1417320" y="3279630"/>
            <a:ext cx="914400" cy="182880"/>
          </a:xfrm>
          <a:prstGeom prst="rect">
            <a:avLst/>
          </a:prstGeom>
          <a:noFill/>
          <a:ln/>
        </p:spPr>
        <p:txBody>
          <a:bodyPr wrap="square" lIns="0" tIns="0" rIns="0" bIns="0" rtlCol="0" anchor="ctr"/>
          <a:lstStyle/>
          <a:p>
            <a:pPr algn="ctr" indent="0" marL="0">
              <a:buNone/>
            </a:pPr>
            <a:r>
              <a:rPr lang="en-US" sz="700" b="1" dirty="0">
                <a:solidFill>
                  <a:srgbClr val="000000"/>
                </a:solidFill>
                <a:latin typeface="Arial" pitchFamily="34" charset="0"/>
                <a:ea typeface="Arial" pitchFamily="34" charset="-122"/>
                <a:cs typeface="Arial" pitchFamily="34" charset="-120"/>
              </a:rPr>
              <a:t>$109M</a:t>
            </a:r>
            <a:endParaRPr lang="en-US" sz="700" dirty="0"/>
          </a:p>
        </p:txBody>
      </p:sp>
      <p:sp>
        <p:nvSpPr>
          <p:cNvPr id="15" name="Text 12"/>
          <p:cNvSpPr txBox="1"/>
          <p:nvPr/>
        </p:nvSpPr>
        <p:spPr>
          <a:xfrm>
            <a:off x="2331720" y="2679805"/>
            <a:ext cx="914400" cy="182880"/>
          </a:xfrm>
          <a:prstGeom prst="rect">
            <a:avLst/>
          </a:prstGeom>
          <a:noFill/>
          <a:ln/>
        </p:spPr>
        <p:txBody>
          <a:bodyPr wrap="square" lIns="0" tIns="0" rIns="0" bIns="0" rtlCol="0" anchor="ctr"/>
          <a:lstStyle/>
          <a:p>
            <a:pPr algn="ctr" indent="0" marL="0">
              <a:buNone/>
            </a:pPr>
            <a:r>
              <a:rPr lang="en-US" sz="700" b="1" dirty="0">
                <a:solidFill>
                  <a:srgbClr val="000000"/>
                </a:solidFill>
                <a:latin typeface="Arial" pitchFamily="34" charset="0"/>
                <a:ea typeface="Arial" pitchFamily="34" charset="-122"/>
                <a:cs typeface="Arial" pitchFamily="34" charset="-120"/>
              </a:rPr>
              <a:t>$184M</a:t>
            </a:r>
            <a:endParaRPr lang="en-US" sz="700" dirty="0"/>
          </a:p>
        </p:txBody>
      </p:sp>
      <p:sp>
        <p:nvSpPr>
          <p:cNvPr id="16" name="Text 13"/>
          <p:cNvSpPr txBox="1"/>
          <p:nvPr/>
        </p:nvSpPr>
        <p:spPr>
          <a:xfrm>
            <a:off x="3246120" y="2151959"/>
            <a:ext cx="914400" cy="182880"/>
          </a:xfrm>
          <a:prstGeom prst="rect">
            <a:avLst/>
          </a:prstGeom>
          <a:noFill/>
          <a:ln/>
        </p:spPr>
        <p:txBody>
          <a:bodyPr wrap="square" lIns="0" tIns="0" rIns="0" bIns="0" rtlCol="0" anchor="ctr"/>
          <a:lstStyle/>
          <a:p>
            <a:pPr algn="ctr" indent="0" marL="0">
              <a:buNone/>
            </a:pPr>
            <a:r>
              <a:rPr lang="en-US" sz="700" b="1" dirty="0">
                <a:solidFill>
                  <a:srgbClr val="000000"/>
                </a:solidFill>
                <a:latin typeface="Arial" pitchFamily="34" charset="0"/>
                <a:ea typeface="Arial" pitchFamily="34" charset="-122"/>
                <a:cs typeface="Arial" pitchFamily="34" charset="-120"/>
              </a:rPr>
              <a:t>$250M</a:t>
            </a:r>
            <a:endParaRPr lang="en-US" sz="700" dirty="0"/>
          </a:p>
        </p:txBody>
      </p:sp>
      <p:sp>
        <p:nvSpPr>
          <p:cNvPr id="17" name="Text 14"/>
          <p:cNvSpPr txBox="1"/>
          <p:nvPr/>
        </p:nvSpPr>
        <p:spPr>
          <a:xfrm>
            <a:off x="4160520" y="1960015"/>
            <a:ext cx="914400" cy="182880"/>
          </a:xfrm>
          <a:prstGeom prst="rect">
            <a:avLst/>
          </a:prstGeom>
          <a:noFill/>
          <a:ln/>
        </p:spPr>
        <p:txBody>
          <a:bodyPr wrap="square" lIns="0" tIns="0" rIns="0" bIns="0" rtlCol="0" anchor="ctr"/>
          <a:lstStyle/>
          <a:p>
            <a:pPr algn="ctr" indent="0" marL="0">
              <a:buNone/>
            </a:pPr>
            <a:r>
              <a:rPr lang="en-US" sz="700" b="1" dirty="0">
                <a:solidFill>
                  <a:srgbClr val="000000"/>
                </a:solidFill>
                <a:latin typeface="Arial" pitchFamily="34" charset="0"/>
                <a:ea typeface="Arial" pitchFamily="34" charset="-122"/>
                <a:cs typeface="Arial" pitchFamily="34" charset="-120"/>
              </a:rPr>
              <a:t>$274M</a:t>
            </a:r>
            <a:endParaRPr lang="en-US" sz="700" dirty="0"/>
          </a:p>
        </p:txBody>
      </p:sp>
      <p:sp>
        <p:nvSpPr>
          <p:cNvPr id="18" name="Text 15"/>
          <p:cNvSpPr txBox="1"/>
          <p:nvPr/>
        </p:nvSpPr>
        <p:spPr>
          <a:xfrm>
            <a:off x="5074920" y="1616115"/>
            <a:ext cx="914400" cy="182880"/>
          </a:xfrm>
          <a:prstGeom prst="rect">
            <a:avLst/>
          </a:prstGeom>
          <a:noFill/>
          <a:ln/>
        </p:spPr>
        <p:txBody>
          <a:bodyPr wrap="square" lIns="0" tIns="0" rIns="0" bIns="0" rtlCol="0" anchor="ctr"/>
          <a:lstStyle/>
          <a:p>
            <a:pPr algn="ctr" indent="0" marL="0">
              <a:buNone/>
            </a:pPr>
            <a:r>
              <a:rPr lang="en-US" sz="700" b="1" dirty="0">
                <a:solidFill>
                  <a:srgbClr val="000000"/>
                </a:solidFill>
                <a:latin typeface="Arial" pitchFamily="34" charset="0"/>
                <a:ea typeface="Arial" pitchFamily="34" charset="-122"/>
                <a:cs typeface="Arial" pitchFamily="34" charset="-120"/>
              </a:rPr>
              <a:t>$317M</a:t>
            </a:r>
            <a:endParaRPr lang="en-US" sz="700" dirty="0"/>
          </a:p>
        </p:txBody>
      </p:sp>
      <p:sp>
        <p:nvSpPr>
          <p:cNvPr id="19" name="Text 16"/>
          <p:cNvSpPr txBox="1"/>
          <p:nvPr/>
        </p:nvSpPr>
        <p:spPr>
          <a:xfrm>
            <a:off x="5989320" y="1744078"/>
            <a:ext cx="914400" cy="182880"/>
          </a:xfrm>
          <a:prstGeom prst="rect">
            <a:avLst/>
          </a:prstGeom>
          <a:noFill/>
          <a:ln/>
        </p:spPr>
        <p:txBody>
          <a:bodyPr wrap="square" lIns="0" tIns="0" rIns="0" bIns="0" rtlCol="0" anchor="ctr"/>
          <a:lstStyle/>
          <a:p>
            <a:pPr algn="ctr" indent="0" marL="0">
              <a:buNone/>
            </a:pPr>
            <a:r>
              <a:rPr lang="en-US" sz="700" b="1" dirty="0">
                <a:solidFill>
                  <a:srgbClr val="000000"/>
                </a:solidFill>
                <a:latin typeface="Arial" pitchFamily="34" charset="0"/>
                <a:ea typeface="Arial" pitchFamily="34" charset="-122"/>
                <a:cs typeface="Arial" pitchFamily="34" charset="-120"/>
              </a:rPr>
              <a:t>$301M</a:t>
            </a:r>
            <a:endParaRPr lang="en-US" sz="700" dirty="0"/>
          </a:p>
        </p:txBody>
      </p:sp>
      <p:sp>
        <p:nvSpPr>
          <p:cNvPr id="20" name="Text 17"/>
          <p:cNvSpPr txBox="1"/>
          <p:nvPr/>
        </p:nvSpPr>
        <p:spPr>
          <a:xfrm>
            <a:off x="6903720" y="1760073"/>
            <a:ext cx="914400" cy="182880"/>
          </a:xfrm>
          <a:prstGeom prst="rect">
            <a:avLst/>
          </a:prstGeom>
          <a:noFill/>
          <a:ln/>
        </p:spPr>
        <p:txBody>
          <a:bodyPr wrap="square" lIns="0" tIns="0" rIns="0" bIns="0" rtlCol="0" anchor="ctr"/>
          <a:lstStyle/>
          <a:p>
            <a:pPr algn="ctr" indent="0" marL="0">
              <a:buNone/>
            </a:pPr>
            <a:r>
              <a:rPr lang="en-US" sz="700" b="1" dirty="0">
                <a:solidFill>
                  <a:srgbClr val="000000"/>
                </a:solidFill>
                <a:latin typeface="Arial" pitchFamily="34" charset="0"/>
                <a:ea typeface="Arial" pitchFamily="34" charset="-122"/>
                <a:cs typeface="Arial" pitchFamily="34" charset="-120"/>
              </a:rPr>
              <a:t>$299M</a:t>
            </a:r>
            <a:endParaRPr lang="en-US" sz="700" dirty="0"/>
          </a:p>
        </p:txBody>
      </p:sp>
      <p:sp>
        <p:nvSpPr>
          <p:cNvPr id="21" name="Text 18"/>
          <p:cNvSpPr txBox="1"/>
          <p:nvPr/>
        </p:nvSpPr>
        <p:spPr>
          <a:xfrm>
            <a:off x="7818120" y="1408176"/>
            <a:ext cx="914400" cy="182880"/>
          </a:xfrm>
          <a:prstGeom prst="rect">
            <a:avLst/>
          </a:prstGeom>
          <a:noFill/>
          <a:ln/>
        </p:spPr>
        <p:txBody>
          <a:bodyPr wrap="square" lIns="0" tIns="0" rIns="0" bIns="0" rtlCol="0" anchor="ctr"/>
          <a:lstStyle/>
          <a:p>
            <a:pPr algn="ctr" indent="0" marL="0">
              <a:buNone/>
            </a:pPr>
            <a:r>
              <a:rPr lang="en-US" sz="700" b="1" dirty="0">
                <a:solidFill>
                  <a:srgbClr val="000000"/>
                </a:solidFill>
                <a:latin typeface="Arial" pitchFamily="34" charset="0"/>
                <a:ea typeface="Arial" pitchFamily="34" charset="-122"/>
                <a:cs typeface="Arial" pitchFamily="34" charset="-120"/>
              </a:rPr>
              <a:t>$343M</a:t>
            </a:r>
            <a:endParaRPr lang="en-US" sz="700" dirty="0"/>
          </a:p>
        </p:txBody>
      </p:sp>
      <p:sp>
        <p:nvSpPr>
          <p:cNvPr id="22" name="Text 19"/>
          <p:cNvSpPr txBox="1"/>
          <p:nvPr/>
        </p:nvSpPr>
        <p:spPr>
          <a:xfrm>
            <a:off x="1645920" y="4828032"/>
            <a:ext cx="5852160" cy="274320"/>
          </a:xfrm>
          <a:prstGeom prst="rect">
            <a:avLst/>
          </a:prstGeom>
          <a:noFill/>
          <a:ln/>
        </p:spPr>
        <p:txBody>
          <a:bodyPr wrap="square" lIns="0" tIns="0" rIns="0" bIns="0" rtlCol="0" anchor="t"/>
          <a:lstStyle/>
          <a:p>
            <a:pPr indent="0" marL="0">
              <a:buNone/>
            </a:pPr>
            <a:r>
              <a:rPr lang="en-US" sz="400" dirty="0">
                <a:solidFill>
                  <a:srgbClr val="8E8E93"/>
                </a:solidFill>
                <a:latin typeface="Arial" pitchFamily="34" charset="0"/>
                <a:ea typeface="Arial" pitchFamily="34" charset="-122"/>
                <a:cs typeface="Arial" pitchFamily="34" charset="-120"/>
              </a:rPr>
              <a:t>Source: company filings and internal reporting. All figures in this template are illustrative placeholders — replace them with reported values before distribution. Non-GAAP measures are reconciled to the most directly comparable GAAP measures in the appendix.</a:t>
            </a:r>
            <a:endParaRPr lang="en-US" sz="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000000"/>
                </a:solidFill>
                <a:latin typeface="Arial" pitchFamily="34" charset="0"/>
                <a:ea typeface="Arial" pitchFamily="34" charset="-122"/>
                <a:cs typeface="Arial" pitchFamily="34" charset="-120"/>
              </a:rPr>
              <a:t>Expenses as a Percentage of Revenue</a:t>
            </a:r>
            <a:endParaRPr lang="en-US" sz="2200" dirty="0"/>
          </a:p>
        </p:txBody>
      </p:sp>
      <p:sp>
        <p:nvSpPr>
          <p:cNvPr id="4" name="Shape 2"/>
          <p:cNvSpPr/>
          <p:nvPr/>
        </p:nvSpPr>
        <p:spPr>
          <a:xfrm>
            <a:off x="320040" y="868680"/>
            <a:ext cx="8503920" cy="3977640"/>
          </a:xfrm>
          <a:prstGeom prst="roundRect">
            <a:avLst>
              <a:gd name="adj" fmla="val 2299"/>
            </a:avLst>
          </a:prstGeom>
          <a:solidFill>
            <a:srgbClr val="F5F5F7"/>
          </a:solidFill>
          <a:ln w="12700">
            <a:solidFill>
              <a:srgbClr val="F5F5F7"/>
            </a:solidFill>
            <a:prstDash val="solid"/>
          </a:ln>
        </p:spPr>
      </p:sp>
      <p:sp>
        <p:nvSpPr>
          <p:cNvPr id="5" name="Shape 3"/>
          <p:cNvSpPr/>
          <p:nvPr/>
        </p:nvSpPr>
        <p:spPr>
          <a:xfrm>
            <a:off x="502920" y="1033272"/>
            <a:ext cx="91440" cy="91440"/>
          </a:xfrm>
          <a:prstGeom prst="ellipse">
            <a:avLst/>
          </a:prstGeom>
          <a:solidFill>
            <a:srgbClr val="636366"/>
          </a:solidFill>
          <a:ln w="12700">
            <a:solidFill>
              <a:srgbClr val="636366"/>
            </a:solidFill>
            <a:prstDash val="solid"/>
          </a:ln>
        </p:spPr>
      </p:sp>
      <p:sp>
        <p:nvSpPr>
          <p:cNvPr id="6" name="Text 4"/>
          <p:cNvSpPr txBox="1"/>
          <p:nvPr/>
        </p:nvSpPr>
        <p:spPr>
          <a:xfrm>
            <a:off x="658368" y="1005840"/>
            <a:ext cx="2011680" cy="146304"/>
          </a:xfrm>
          <a:prstGeom prst="rect">
            <a:avLst/>
          </a:prstGeom>
          <a:noFill/>
          <a:ln/>
        </p:spPr>
        <p:txBody>
          <a:bodyPr wrap="square" lIns="0" tIns="0" rIns="0" bIns="0" rtlCol="0" anchor="ctr"/>
          <a:lstStyle/>
          <a:p>
            <a:pPr indent="0" marL="0">
              <a:buNone/>
            </a:pPr>
            <a:r>
              <a:rPr lang="en-US" sz="650" dirty="0">
                <a:solidFill>
                  <a:srgbClr val="3A3A3C"/>
                </a:solidFill>
                <a:latin typeface="Arial" pitchFamily="34" charset="0"/>
                <a:ea typeface="Arial" pitchFamily="34" charset="-122"/>
                <a:cs typeface="Arial" pitchFamily="34" charset="-120"/>
              </a:rPr>
              <a:t>General &amp; Administrative</a:t>
            </a:r>
            <a:endParaRPr lang="en-US" sz="650" dirty="0"/>
          </a:p>
        </p:txBody>
      </p:sp>
      <p:sp>
        <p:nvSpPr>
          <p:cNvPr id="7" name="Shape 5"/>
          <p:cNvSpPr/>
          <p:nvPr/>
        </p:nvSpPr>
        <p:spPr>
          <a:xfrm>
            <a:off x="502920" y="1207008"/>
            <a:ext cx="91440" cy="91440"/>
          </a:xfrm>
          <a:prstGeom prst="ellipse">
            <a:avLst/>
          </a:prstGeom>
          <a:solidFill>
            <a:srgbClr val="8E8E93"/>
          </a:solidFill>
          <a:ln w="12700">
            <a:solidFill>
              <a:srgbClr val="8E8E93"/>
            </a:solidFill>
            <a:prstDash val="solid"/>
          </a:ln>
        </p:spPr>
      </p:sp>
      <p:sp>
        <p:nvSpPr>
          <p:cNvPr id="8" name="Text 6"/>
          <p:cNvSpPr txBox="1"/>
          <p:nvPr/>
        </p:nvSpPr>
        <p:spPr>
          <a:xfrm>
            <a:off x="658368" y="1179576"/>
            <a:ext cx="2011680" cy="146304"/>
          </a:xfrm>
          <a:prstGeom prst="rect">
            <a:avLst/>
          </a:prstGeom>
          <a:noFill/>
          <a:ln/>
        </p:spPr>
        <p:txBody>
          <a:bodyPr wrap="square" lIns="0" tIns="0" rIns="0" bIns="0" rtlCol="0" anchor="ctr"/>
          <a:lstStyle/>
          <a:p>
            <a:pPr indent="0" marL="0">
              <a:buNone/>
            </a:pPr>
            <a:r>
              <a:rPr lang="en-US" sz="650" dirty="0">
                <a:solidFill>
                  <a:srgbClr val="3A3A3C"/>
                </a:solidFill>
                <a:latin typeface="Arial" pitchFamily="34" charset="0"/>
                <a:ea typeface="Arial" pitchFamily="34" charset="-122"/>
                <a:cs typeface="Arial" pitchFamily="34" charset="-120"/>
              </a:rPr>
              <a:t>Marketing &amp; Sales</a:t>
            </a:r>
            <a:endParaRPr lang="en-US" sz="650" dirty="0"/>
          </a:p>
        </p:txBody>
      </p:sp>
      <p:sp>
        <p:nvSpPr>
          <p:cNvPr id="9" name="Shape 7"/>
          <p:cNvSpPr/>
          <p:nvPr/>
        </p:nvSpPr>
        <p:spPr>
          <a:xfrm>
            <a:off x="502920" y="1380744"/>
            <a:ext cx="91440" cy="91440"/>
          </a:xfrm>
          <a:prstGeom prst="ellipse">
            <a:avLst/>
          </a:prstGeom>
          <a:solidFill>
            <a:srgbClr val="AEAEB2"/>
          </a:solidFill>
          <a:ln w="12700">
            <a:solidFill>
              <a:srgbClr val="AEAEB2"/>
            </a:solidFill>
            <a:prstDash val="solid"/>
          </a:ln>
        </p:spPr>
      </p:sp>
      <p:sp>
        <p:nvSpPr>
          <p:cNvPr id="10" name="Text 8"/>
          <p:cNvSpPr txBox="1"/>
          <p:nvPr/>
        </p:nvSpPr>
        <p:spPr>
          <a:xfrm>
            <a:off x="658368" y="1353312"/>
            <a:ext cx="2011680" cy="146304"/>
          </a:xfrm>
          <a:prstGeom prst="rect">
            <a:avLst/>
          </a:prstGeom>
          <a:noFill/>
          <a:ln/>
        </p:spPr>
        <p:txBody>
          <a:bodyPr wrap="square" lIns="0" tIns="0" rIns="0" bIns="0" rtlCol="0" anchor="ctr"/>
          <a:lstStyle/>
          <a:p>
            <a:pPr indent="0" marL="0">
              <a:buNone/>
            </a:pPr>
            <a:r>
              <a:rPr lang="en-US" sz="650" dirty="0">
                <a:solidFill>
                  <a:srgbClr val="3A3A3C"/>
                </a:solidFill>
                <a:latin typeface="Arial" pitchFamily="34" charset="0"/>
                <a:ea typeface="Arial" pitchFamily="34" charset="-122"/>
                <a:cs typeface="Arial" pitchFamily="34" charset="-120"/>
              </a:rPr>
              <a:t>Research &amp; Development</a:t>
            </a:r>
            <a:endParaRPr lang="en-US" sz="650" dirty="0"/>
          </a:p>
        </p:txBody>
      </p:sp>
      <p:sp>
        <p:nvSpPr>
          <p:cNvPr id="11" name="Shape 9"/>
          <p:cNvSpPr/>
          <p:nvPr/>
        </p:nvSpPr>
        <p:spPr>
          <a:xfrm>
            <a:off x="502920" y="1554480"/>
            <a:ext cx="91440" cy="91440"/>
          </a:xfrm>
          <a:prstGeom prst="ellipse">
            <a:avLst/>
          </a:prstGeom>
          <a:solidFill>
            <a:srgbClr val="D1D1D6"/>
          </a:solidFill>
          <a:ln w="12700">
            <a:solidFill>
              <a:srgbClr val="D1D1D6"/>
            </a:solidFill>
            <a:prstDash val="solid"/>
          </a:ln>
        </p:spPr>
      </p:sp>
      <p:sp>
        <p:nvSpPr>
          <p:cNvPr id="12" name="Text 10"/>
          <p:cNvSpPr txBox="1"/>
          <p:nvPr/>
        </p:nvSpPr>
        <p:spPr>
          <a:xfrm>
            <a:off x="658368" y="1527048"/>
            <a:ext cx="2011680" cy="146304"/>
          </a:xfrm>
          <a:prstGeom prst="rect">
            <a:avLst/>
          </a:prstGeom>
          <a:noFill/>
          <a:ln/>
        </p:spPr>
        <p:txBody>
          <a:bodyPr wrap="square" lIns="0" tIns="0" rIns="0" bIns="0" rtlCol="0" anchor="ctr"/>
          <a:lstStyle/>
          <a:p>
            <a:pPr indent="0" marL="0">
              <a:buNone/>
            </a:pPr>
            <a:r>
              <a:rPr lang="en-US" sz="650" dirty="0">
                <a:solidFill>
                  <a:srgbClr val="3A3A3C"/>
                </a:solidFill>
                <a:latin typeface="Arial" pitchFamily="34" charset="0"/>
                <a:ea typeface="Arial" pitchFamily="34" charset="-122"/>
                <a:cs typeface="Arial" pitchFamily="34" charset="-120"/>
              </a:rPr>
              <a:t>Cost of Revenue</a:t>
            </a:r>
            <a:endParaRPr lang="en-US" sz="650" dirty="0"/>
          </a:p>
        </p:txBody>
      </p:sp>
      <p:graphicFrame>
        <p:nvGraphicFramePr>
          <p:cNvPr id="13" name="Chart 0" descr=""/>
          <p:cNvGraphicFramePr/>
          <p:nvPr/>
        </p:nvGraphicFramePr>
        <p:xfrm>
          <a:off x="411480" y="1005840"/>
          <a:ext cx="832104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000000"/>
                </a:solidFill>
                <a:latin typeface="Arial" pitchFamily="34" charset="0"/>
                <a:ea typeface="Arial" pitchFamily="34" charset="-122"/>
                <a:cs typeface="Arial" pitchFamily="34" charset="-120"/>
              </a:rPr>
              <a:t>E-commerce</a:t>
            </a:r>
            <a:endParaRPr lang="en-US" sz="2200" dirty="0"/>
          </a:p>
          <a:p>
            <a:pPr indent="0" marL="0">
              <a:lnSpc>
                <a:spcPct val="95000"/>
              </a:lnSpc>
              <a:buNone/>
            </a:pPr>
            <a:r>
              <a:rPr lang="en-US" sz="2200" dirty="0">
                <a:solidFill>
                  <a:srgbClr val="8E8E93"/>
                </a:solidFill>
                <a:latin typeface="Arial" pitchFamily="34" charset="0"/>
                <a:ea typeface="Arial" pitchFamily="34" charset="-122"/>
                <a:cs typeface="Arial" pitchFamily="34" charset="-120"/>
              </a:rPr>
              <a:t>Total revenue</a:t>
            </a:r>
            <a:endParaRPr lang="en-US" sz="2200" dirty="0"/>
          </a:p>
        </p:txBody>
      </p:sp>
      <p:sp>
        <p:nvSpPr>
          <p:cNvPr id="4" name="Text 2"/>
          <p:cNvSpPr txBox="1"/>
          <p:nvPr/>
        </p:nvSpPr>
        <p:spPr>
          <a:xfrm>
            <a:off x="320040" y="2514600"/>
            <a:ext cx="2514600" cy="2377440"/>
          </a:xfrm>
          <a:prstGeom prst="rect">
            <a:avLst/>
          </a:prstGeom>
          <a:noFill/>
          <a:ln/>
        </p:spPr>
        <p:txBody>
          <a:bodyPr wrap="square" lIns="0" tIns="0" rIns="0" bIns="0" rtlCol="0" anchor="t"/>
          <a:lstStyle/>
          <a:p>
            <a:pPr indent="0" marL="0">
              <a:spcAft>
                <a:spcPts val="600"/>
              </a:spcAft>
              <a:buNone/>
            </a:pPr>
            <a:r>
              <a:rPr lang="en-US" sz="750" dirty="0">
                <a:solidFill>
                  <a:srgbClr val="3A3A3C"/>
                </a:solidFill>
                <a:latin typeface="Arial" pitchFamily="34" charset="0"/>
                <a:ea typeface="Arial" pitchFamily="34" charset="-122"/>
                <a:cs typeface="Arial" pitchFamily="34" charset="-120"/>
              </a:rPr>
              <a:t>Over the past four years, our e-commerce segment has demonstrated strong and consistent growth. Starting from $0 million in Year 0, we have successfully scaled our operations, achieving $90 million in total revenue by Year 4. This growth trajectory highlights the effectiveness of our strategic initiatives, including market expansion, product diversification, and enhanced customer engagement.</a:t>
            </a:r>
            <a:endParaRPr lang="en-US" sz="750" dirty="0"/>
          </a:p>
          <a:p>
            <a:pPr indent="0" marL="0">
              <a:spcAft>
                <a:spcPts val="600"/>
              </a:spcAft>
              <a:buNone/>
            </a:pPr>
            <a:r>
              <a:rPr lang="en-US" sz="750" dirty="0">
                <a:solidFill>
                  <a:srgbClr val="3A3A3C"/>
                </a:solidFill>
                <a:latin typeface="Arial" pitchFamily="34" charset="0"/>
                <a:ea typeface="Arial" pitchFamily="34" charset="-122"/>
                <a:cs typeface="Arial" pitchFamily="34" charset="-120"/>
              </a:rPr>
              <a:t>Our sustained upward trend, depicted by the solid black line, outpaces initial projections, indicating that our investments in technology and marketing have yielded substantial returns. As we continue to innovate and expand our e-commerce offerings, we are confident that this momentum will carry forward, driving even greater value for our stakeholders.</a:t>
            </a:r>
            <a:endParaRPr lang="en-US" sz="750" dirty="0"/>
          </a:p>
        </p:txBody>
      </p:sp>
      <p:sp>
        <p:nvSpPr>
          <p:cNvPr id="5" name="Shape 3"/>
          <p:cNvSpPr/>
          <p:nvPr/>
        </p:nvSpPr>
        <p:spPr>
          <a:xfrm>
            <a:off x="3291840" y="228600"/>
            <a:ext cx="5532120" cy="4663440"/>
          </a:xfrm>
          <a:prstGeom prst="roundRect">
            <a:avLst>
              <a:gd name="adj" fmla="val 1961"/>
            </a:avLst>
          </a:prstGeom>
          <a:solidFill>
            <a:srgbClr val="F5F5F7"/>
          </a:solidFill>
          <a:ln w="12700">
            <a:solidFill>
              <a:srgbClr val="F5F5F7"/>
            </a:solidFill>
            <a:prstDash val="solid"/>
          </a:ln>
        </p:spPr>
      </p:sp>
      <p:graphicFrame>
        <p:nvGraphicFramePr>
          <p:cNvPr id="6" name="Chart 0" descr=""/>
          <p:cNvGraphicFramePr/>
          <p:nvPr/>
        </p:nvGraphicFramePr>
        <p:xfrm>
          <a:off x="3383280" y="365760"/>
          <a:ext cx="5349240" cy="43891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Products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000000"/>
                </a:solidFill>
                <a:latin typeface="Arial" pitchFamily="34" charset="0"/>
                <a:ea typeface="Arial" pitchFamily="34" charset="-122"/>
                <a:cs typeface="Arial" pitchFamily="34" charset="-120"/>
              </a:rPr>
              <a:t>Best-selling products</a:t>
            </a:r>
            <a:endParaRPr lang="en-US" sz="2200" dirty="0"/>
          </a:p>
          <a:p>
            <a:pPr indent="0" marL="0">
              <a:lnSpc>
                <a:spcPct val="95000"/>
              </a:lnSpc>
              <a:buNone/>
            </a:pPr>
            <a:r>
              <a:rPr lang="en-US" sz="2200" dirty="0">
                <a:solidFill>
                  <a:srgbClr val="8E8E93"/>
                </a:solidFill>
                <a:latin typeface="Arial" pitchFamily="34" charset="0"/>
                <a:ea typeface="Arial" pitchFamily="34" charset="-122"/>
                <a:cs typeface="Arial" pitchFamily="34" charset="-120"/>
              </a:rPr>
              <a:t>US</a:t>
            </a:r>
            <a:endParaRPr lang="en-US" sz="2200" dirty="0"/>
          </a:p>
        </p:txBody>
      </p:sp>
      <p:sp>
        <p:nvSpPr>
          <p:cNvPr id="4" name="Text 2"/>
          <p:cNvSpPr txBox="1"/>
          <p:nvPr/>
        </p:nvSpPr>
        <p:spPr>
          <a:xfrm>
            <a:off x="320040" y="2514600"/>
            <a:ext cx="2514600" cy="2377440"/>
          </a:xfrm>
          <a:prstGeom prst="rect">
            <a:avLst/>
          </a:prstGeom>
          <a:noFill/>
          <a:ln/>
        </p:spPr>
        <p:txBody>
          <a:bodyPr wrap="square" lIns="0" tIns="0" rIns="0" bIns="0" rtlCol="0" anchor="t"/>
          <a:lstStyle/>
          <a:p>
            <a:pPr indent="0" marL="0">
              <a:spcAft>
                <a:spcPts val="600"/>
              </a:spcAft>
              <a:buNone/>
            </a:pPr>
            <a:r>
              <a:rPr lang="en-US" sz="750" dirty="0">
                <a:solidFill>
                  <a:srgbClr val="3A3A3C"/>
                </a:solidFill>
                <a:latin typeface="Arial" pitchFamily="34" charset="0"/>
                <a:ea typeface="Arial" pitchFamily="34" charset="-122"/>
                <a:cs typeface="Arial" pitchFamily="34" charset="-120"/>
              </a:rPr>
              <a:t>The radar chart highlights the performance of our top eight products in the US, showcasing the comparative market position across key categories. Each product is evaluated on the same scale, providing a clear view of where we lead and where growth opportunities remain.</a:t>
            </a:r>
            <a:endParaRPr lang="en-US" sz="750" dirty="0"/>
          </a:p>
          <a:p>
            <a:pPr indent="0" marL="0">
              <a:spcAft>
                <a:spcPts val="600"/>
              </a:spcAft>
              <a:buNone/>
            </a:pPr>
            <a:r>
              <a:rPr lang="en-US" sz="750" dirty="0">
                <a:solidFill>
                  <a:srgbClr val="3A3A3C"/>
                </a:solidFill>
                <a:latin typeface="Arial" pitchFamily="34" charset="0"/>
                <a:ea typeface="Arial" pitchFamily="34" charset="-122"/>
                <a:cs typeface="Arial" pitchFamily="34" charset="-120"/>
              </a:rPr>
              <a:t>Products 3 and 7 outperform their categories, reflecting strong customer demand and targeted marketing efforts. Product 5 and Product 8 show room for improvement, and we are refining positioning and pricing to lift their contribution next year.</a:t>
            </a:r>
            <a:endParaRPr lang="en-US" sz="750" dirty="0"/>
          </a:p>
        </p:txBody>
      </p:sp>
      <p:sp>
        <p:nvSpPr>
          <p:cNvPr id="5" name="Shape 3"/>
          <p:cNvSpPr/>
          <p:nvPr/>
        </p:nvSpPr>
        <p:spPr>
          <a:xfrm>
            <a:off x="3291840" y="228600"/>
            <a:ext cx="5532120" cy="4663440"/>
          </a:xfrm>
          <a:prstGeom prst="roundRect">
            <a:avLst>
              <a:gd name="adj" fmla="val 1961"/>
            </a:avLst>
          </a:prstGeom>
          <a:solidFill>
            <a:srgbClr val="F5F5F7"/>
          </a:solidFill>
          <a:ln w="12700">
            <a:solidFill>
              <a:srgbClr val="F5F5F7"/>
            </a:solidFill>
            <a:prstDash val="solid"/>
          </a:ln>
        </p:spPr>
      </p:sp>
      <p:graphicFrame>
        <p:nvGraphicFramePr>
          <p:cNvPr id="6" name="Chart 0" descr=""/>
          <p:cNvGraphicFramePr/>
          <p:nvPr/>
        </p:nvGraphicFramePr>
        <p:xfrm>
          <a:off x="3657600" y="411480"/>
          <a:ext cx="4846320" cy="42976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000000"/>
                </a:solidFill>
                <a:latin typeface="Arial" pitchFamily="34" charset="0"/>
                <a:ea typeface="Arial" pitchFamily="34" charset="-122"/>
                <a:cs typeface="Arial" pitchFamily="34" charset="-120"/>
              </a:rPr>
              <a:t>GAAP Operating</a:t>
            </a:r>
            <a:endParaRPr lang="en-US" sz="2200" dirty="0"/>
          </a:p>
          <a:p>
            <a:pPr indent="0" marL="0">
              <a:lnSpc>
                <a:spcPct val="95000"/>
              </a:lnSpc>
              <a:buNone/>
            </a:pPr>
            <a:r>
              <a:rPr lang="en-US" sz="2200" dirty="0">
                <a:solidFill>
                  <a:srgbClr val="000000"/>
                </a:solidFill>
                <a:latin typeface="Arial" pitchFamily="34" charset="0"/>
                <a:ea typeface="Arial" pitchFamily="34" charset="-122"/>
                <a:cs typeface="Arial" pitchFamily="34" charset="-120"/>
              </a:rPr>
              <a:t>Profitability</a:t>
            </a:r>
            <a:endParaRPr lang="en-US" sz="2200" dirty="0"/>
          </a:p>
        </p:txBody>
      </p:sp>
      <p:sp>
        <p:nvSpPr>
          <p:cNvPr id="4" name="Text 2"/>
          <p:cNvSpPr txBox="1"/>
          <p:nvPr/>
        </p:nvSpPr>
        <p:spPr>
          <a:xfrm>
            <a:off x="320040" y="1280160"/>
            <a:ext cx="2651760" cy="731520"/>
          </a:xfrm>
          <a:prstGeom prst="rect">
            <a:avLst/>
          </a:prstGeom>
          <a:noFill/>
          <a:ln/>
        </p:spPr>
        <p:txBody>
          <a:bodyPr wrap="square" lIns="0" tIns="0" rIns="0" bIns="0" rtlCol="0" anchor="t"/>
          <a:lstStyle/>
          <a:p>
            <a:pPr indent="0" marL="0">
              <a:buNone/>
            </a:pPr>
            <a:r>
              <a:rPr lang="en-US" sz="1000" dirty="0">
                <a:solidFill>
                  <a:srgbClr val="8E8E93"/>
                </a:solidFill>
                <a:latin typeface="Arial" pitchFamily="34" charset="0"/>
                <a:ea typeface="Arial" pitchFamily="34" charset="-122"/>
                <a:cs typeface="Arial" pitchFamily="34" charset="-120"/>
              </a:rPr>
              <a:t>We achieved GAAP operating profitability from operations of $620 million.</a:t>
            </a:r>
            <a:endParaRPr lang="en-US" sz="1000" dirty="0"/>
          </a:p>
        </p:txBody>
      </p:sp>
      <p:sp>
        <p:nvSpPr>
          <p:cNvPr id="5" name="Shape 3"/>
          <p:cNvSpPr/>
          <p:nvPr/>
        </p:nvSpPr>
        <p:spPr>
          <a:xfrm>
            <a:off x="3291840" y="228600"/>
            <a:ext cx="5532120" cy="4663440"/>
          </a:xfrm>
          <a:prstGeom prst="roundRect">
            <a:avLst>
              <a:gd name="adj" fmla="val 1961"/>
            </a:avLst>
          </a:prstGeom>
          <a:solidFill>
            <a:srgbClr val="F5F5F7"/>
          </a:solidFill>
          <a:ln w="12700">
            <a:solidFill>
              <a:srgbClr val="F5F5F7"/>
            </a:solidFill>
            <a:prstDash val="solid"/>
          </a:ln>
        </p:spPr>
      </p:sp>
      <p:graphicFrame>
        <p:nvGraphicFramePr>
          <p:cNvPr id="6" name="Chart 0" descr=""/>
          <p:cNvGraphicFramePr/>
          <p:nvPr/>
        </p:nvGraphicFramePr>
        <p:xfrm>
          <a:off x="3383280" y="365760"/>
          <a:ext cx="5349240" cy="43891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000000"/>
                </a:solidFill>
                <a:latin typeface="Arial" pitchFamily="34" charset="0"/>
                <a:ea typeface="Arial" pitchFamily="34" charset="-122"/>
                <a:cs typeface="Arial" pitchFamily="34" charset="-120"/>
              </a:rPr>
              <a:t>Investments</a:t>
            </a:r>
            <a:endParaRPr lang="en-US" sz="2200" dirty="0"/>
          </a:p>
        </p:txBody>
      </p:sp>
      <p:sp>
        <p:nvSpPr>
          <p:cNvPr id="4" name="Shape 2"/>
          <p:cNvSpPr/>
          <p:nvPr/>
        </p:nvSpPr>
        <p:spPr>
          <a:xfrm>
            <a:off x="320040" y="868680"/>
            <a:ext cx="8503920" cy="3977640"/>
          </a:xfrm>
          <a:prstGeom prst="roundRect">
            <a:avLst>
              <a:gd name="adj" fmla="val 2299"/>
            </a:avLst>
          </a:prstGeom>
          <a:solidFill>
            <a:srgbClr val="F5F5F7"/>
          </a:solidFill>
          <a:ln w="12700">
            <a:solidFill>
              <a:srgbClr val="F5F5F7"/>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685800"/>
                <a:gridCol w="960120"/>
                <a:gridCol w="777240"/>
                <a:gridCol w="777240"/>
                <a:gridCol w="685800"/>
                <a:gridCol w="548640"/>
                <a:gridCol w="868680"/>
                <a:gridCol w="960120"/>
                <a:gridCol w="1051560"/>
                <a:gridCol w="914400"/>
              </a:tblGrid>
              <a:tr h="411480">
                <a:tc>
                  <a:txBody>
                    <a:bodyPr/>
                    <a:lstStyle/>
                    <a:p>
                      <a:pPr algn="ctr" indent="0" marL="0">
                        <a:buNone/>
                      </a:pPr>
                      <a:r>
                        <a:rPr lang="en-US" sz="550" b="1" dirty="0">
                          <a:solidFill>
                            <a:srgbClr val="000000"/>
                          </a:solidFill>
                          <a:latin typeface="Arial" pitchFamily="34" charset="0"/>
                          <a:ea typeface="Arial" pitchFamily="34" charset="-122"/>
                          <a:cs typeface="Arial" pitchFamily="34" charset="-120"/>
                        </a:rPr>
                        <a:t>Symbol</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b="1" dirty="0">
                          <a:solidFill>
                            <a:srgbClr val="000000"/>
                          </a:solidFill>
                          <a:latin typeface="Arial" pitchFamily="34" charset="0"/>
                          <a:ea typeface="Arial" pitchFamily="34" charset="-122"/>
                          <a:cs typeface="Arial" pitchFamily="34" charset="-120"/>
                        </a:rPr>
                        <a:t>Name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b="1" dirty="0">
                          <a:solidFill>
                            <a:srgbClr val="000000"/>
                          </a:solidFill>
                          <a:latin typeface="Arial" pitchFamily="34" charset="0"/>
                          <a:ea typeface="Arial" pitchFamily="34" charset="-122"/>
                          <a:cs typeface="Arial" pitchFamily="34" charset="-120"/>
                        </a:rPr>
                        <a:t>Price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b="1" dirty="0">
                          <a:solidFill>
                            <a:srgbClr val="000000"/>
                          </a:solidFill>
                          <a:latin typeface="Arial" pitchFamily="34" charset="0"/>
                          <a:ea typeface="Arial" pitchFamily="34" charset="-122"/>
                          <a:cs typeface="Arial" pitchFamily="34" charset="-120"/>
                        </a:rPr>
                        <a:t>Price Change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b="1" dirty="0">
                          <a:solidFill>
                            <a:srgbClr val="000000"/>
                          </a:solidFill>
                          <a:latin typeface="Arial" pitchFamily="34" charset="0"/>
                          <a:ea typeface="Arial" pitchFamily="34" charset="-122"/>
                          <a:cs typeface="Arial" pitchFamily="34" charset="-120"/>
                        </a:rPr>
                        <a:t>% Change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b="1" dirty="0">
                          <a:solidFill>
                            <a:srgbClr val="000000"/>
                          </a:solidFill>
                          <a:latin typeface="Arial" pitchFamily="34" charset="0"/>
                          <a:ea typeface="Arial" pitchFamily="34" charset="-122"/>
                          <a:cs typeface="Arial" pitchFamily="34" charset="-120"/>
                        </a:rPr>
                        <a:t>Shares</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b="1" dirty="0">
                          <a:solidFill>
                            <a:srgbClr val="000000"/>
                          </a:solidFill>
                          <a:latin typeface="Arial" pitchFamily="34" charset="0"/>
                          <a:ea typeface="Arial" pitchFamily="34" charset="-122"/>
                          <a:cs typeface="Arial" pitchFamily="34" charset="-120"/>
                        </a:rPr>
                        <a:t>Price Paid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b="1" dirty="0">
                          <a:solidFill>
                            <a:srgbClr val="000000"/>
                          </a:solidFill>
                          <a:latin typeface="Arial" pitchFamily="34" charset="0"/>
                          <a:ea typeface="Arial" pitchFamily="34" charset="-122"/>
                          <a:cs typeface="Arial" pitchFamily="34" charset="-120"/>
                        </a:rPr>
                        <a:t>Cost Basis</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b="1" dirty="0">
                          <a:solidFill>
                            <a:srgbClr val="000000"/>
                          </a:solidFill>
                          <a:latin typeface="Arial" pitchFamily="34" charset="0"/>
                          <a:ea typeface="Arial" pitchFamily="34" charset="-122"/>
                          <a:cs typeface="Arial" pitchFamily="34" charset="-120"/>
                        </a:rPr>
                        <a:t>Market Value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b="1" dirty="0">
                          <a:solidFill>
                            <a:srgbClr val="000000"/>
                          </a:solidFill>
                          <a:latin typeface="Arial" pitchFamily="34" charset="0"/>
                          <a:ea typeface="Arial" pitchFamily="34" charset="-122"/>
                          <a:cs typeface="Arial" pitchFamily="34" charset="-120"/>
                        </a:rPr>
                        <a:t>Gain</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r>
              <a:tr h="566928">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AAPL</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C7C7CC"/>
                      </a:solidFill>
                      <a:prstDash val="solid"/>
                      <a:round/>
                      <a:headEnd type="none" w="med" len="med"/>
                      <a:tailEnd type="none" w="med" len="med"/>
                    </a:lnT>
                    <a:lnB w="0" cap="flat" cmpd="sng" algn="ctr">
                      <a:noFill/>
                    </a:lnB>
                    <a:solidFill>
                      <a:srgbClr val="F5F5F7"/>
                    </a:solidFill>
                  </a:tcPr>
                </a:tc>
                <a:tc>
                  <a:txBody>
                    <a:bodyPr/>
                    <a:lstStyle/>
                    <a:p>
                      <a:pPr algn="l" indent="0" marL="0">
                        <a:buNone/>
                      </a:pPr>
                      <a:r>
                        <a:rPr lang="en-US" sz="550" dirty="0">
                          <a:solidFill>
                            <a:srgbClr val="3A3A3C"/>
                          </a:solidFill>
                          <a:latin typeface="Arial" pitchFamily="34" charset="0"/>
                          <a:ea typeface="Arial" pitchFamily="34" charset="-122"/>
                          <a:cs typeface="Arial" pitchFamily="34" charset="-120"/>
                        </a:rPr>
                        <a:t>Apple Inc.</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C7C7CC"/>
                      </a:solidFill>
                      <a:prstDash val="solid"/>
                      <a:round/>
                      <a:headEnd type="none" w="med" len="med"/>
                      <a:tailEnd type="none" w="med" len="med"/>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151,45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C7C7CC"/>
                      </a:solidFill>
                      <a:prstDash val="solid"/>
                      <a:round/>
                      <a:headEnd type="none" w="med" len="med"/>
                      <a:tailEnd type="none" w="med" len="med"/>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2,73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C7C7CC"/>
                      </a:solidFill>
                      <a:prstDash val="solid"/>
                      <a:round/>
                      <a:headEnd type="none" w="med" len="med"/>
                      <a:tailEnd type="none" w="med" len="med"/>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-1,77 %</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C7C7CC"/>
                      </a:solidFill>
                      <a:prstDash val="solid"/>
                      <a:round/>
                      <a:headEnd type="none" w="med" len="med"/>
                      <a:tailEnd type="none" w="med" len="med"/>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100</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C7C7CC"/>
                      </a:solidFill>
                      <a:prstDash val="solid"/>
                      <a:round/>
                      <a:headEnd type="none" w="med" len="med"/>
                      <a:tailEnd type="none" w="med" len="med"/>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1 023,32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C7C7CC"/>
                      </a:solidFill>
                      <a:prstDash val="solid"/>
                      <a:round/>
                      <a:headEnd type="none" w="med" len="med"/>
                      <a:tailEnd type="none" w="med" len="med"/>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123937,86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C7C7CC"/>
                      </a:solidFill>
                      <a:prstDash val="solid"/>
                      <a:round/>
                      <a:headEnd type="none" w="med" len="med"/>
                      <a:tailEnd type="none" w="med" len="med"/>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188 398,25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C7C7CC"/>
                      </a:solidFill>
                      <a:prstDash val="solid"/>
                      <a:round/>
                      <a:headEnd type="none" w="med" len="med"/>
                      <a:tailEnd type="none" w="med" len="med"/>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64346,55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C7C7CC"/>
                      </a:solidFill>
                      <a:prstDash val="solid"/>
                      <a:round/>
                      <a:headEnd type="none" w="med" len="med"/>
                      <a:tailEnd type="none" w="med" len="med"/>
                    </a:lnT>
                    <a:lnB w="0" cap="flat" cmpd="sng" algn="ctr">
                      <a:noFill/>
                    </a:lnB>
                    <a:solidFill>
                      <a:srgbClr val="F5F5F7"/>
                    </a:solidFill>
                  </a:tcPr>
                </a:tc>
              </a:tr>
              <a:tr h="566928">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FB</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l" indent="0" marL="0">
                        <a:buNone/>
                      </a:pPr>
                      <a:r>
                        <a:rPr lang="en-US" sz="550" dirty="0">
                          <a:solidFill>
                            <a:srgbClr val="3A3A3C"/>
                          </a:solidFill>
                          <a:latin typeface="Arial" pitchFamily="34" charset="0"/>
                          <a:ea typeface="Arial" pitchFamily="34" charset="-122"/>
                          <a:cs typeface="Arial" pitchFamily="34" charset="-120"/>
                        </a:rPr>
                        <a:t>Facebook, Inc.</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333,20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3,79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1,21 %</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50</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1 023,32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51840,20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120 391,15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68840,45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r>
              <a:tr h="566928">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NKE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l" indent="0" marL="0">
                        <a:buNone/>
                      </a:pPr>
                      <a:r>
                        <a:rPr lang="en-US" sz="550" dirty="0">
                          <a:solidFill>
                            <a:srgbClr val="3A3A3C"/>
                          </a:solidFill>
                          <a:latin typeface="Arial" pitchFamily="34" charset="0"/>
                          <a:ea typeface="Arial" pitchFamily="34" charset="-122"/>
                          <a:cs typeface="Arial" pitchFamily="34" charset="-120"/>
                        </a:rPr>
                        <a:t>Nike, Inc.</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132,51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-2,42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-1,80 %</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510,60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13563,79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25 388,66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12564,88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r>
              <a:tr h="566928">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BTC</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l" indent="0" marL="0">
                        <a:buNone/>
                      </a:pPr>
                      <a:r>
                        <a:rPr lang="en-US" sz="550" dirty="0">
                          <a:solidFill>
                            <a:srgbClr val="3A3A3C"/>
                          </a:solidFill>
                          <a:latin typeface="Arial" pitchFamily="34" charset="0"/>
                          <a:ea typeface="Arial" pitchFamily="34" charset="-122"/>
                          <a:cs typeface="Arial" pitchFamily="34" charset="-120"/>
                        </a:rPr>
                        <a:t>Bitcoin</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70123,91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20120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54123,91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58132,51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158 390,31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64349,4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r>
              <a:tr h="566928">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ETH</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l" indent="0" marL="0">
                        <a:buNone/>
                      </a:pPr>
                      <a:r>
                        <a:rPr lang="en-US" sz="550" dirty="0">
                          <a:solidFill>
                            <a:srgbClr val="3A3A3C"/>
                          </a:solidFill>
                          <a:latin typeface="Arial" pitchFamily="34" charset="0"/>
                          <a:ea typeface="Arial" pitchFamily="34" charset="-122"/>
                          <a:cs typeface="Arial" pitchFamily="34" charset="-120"/>
                        </a:rPr>
                        <a:t>Ethereum</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3623,91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1023,82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11,4 %</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3023,91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3023,91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25 389,66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12564,88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r>
              <a:tr h="566928">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Portfolio</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l"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b="1" dirty="0">
                          <a:solidFill>
                            <a:srgbClr val="000000"/>
                          </a:solidFill>
                          <a:latin typeface="Arial" pitchFamily="34" charset="0"/>
                          <a:ea typeface="Arial" pitchFamily="34" charset="-122"/>
                          <a:cs typeface="Arial" pitchFamily="34" charset="-120"/>
                        </a:rPr>
                        <a:t>187672,53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b="1" dirty="0">
                          <a:solidFill>
                            <a:srgbClr val="000000"/>
                          </a:solidFill>
                          <a:latin typeface="Arial" pitchFamily="34" charset="0"/>
                          <a:ea typeface="Arial" pitchFamily="34" charset="-122"/>
                          <a:cs typeface="Arial" pitchFamily="34" charset="-120"/>
                        </a:rPr>
                        <a:t>334 758,12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c>
                  <a:txBody>
                    <a:bodyPr/>
                    <a:lstStyle/>
                    <a:p>
                      <a:pPr algn="ctr" indent="0" marL="0">
                        <a:buNone/>
                      </a:pPr>
                      <a:r>
                        <a:rPr lang="en-US" sz="550" b="1" dirty="0">
                          <a:solidFill>
                            <a:srgbClr val="000000"/>
                          </a:solidFill>
                          <a:latin typeface="Arial" pitchFamily="34" charset="0"/>
                          <a:ea typeface="Arial" pitchFamily="34" charset="-122"/>
                          <a:cs typeface="Arial" pitchFamily="34" charset="-120"/>
                        </a:rPr>
                        <a:t>146083,79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F5F5F7"/>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228600"/>
            <a:ext cx="4114800" cy="4663440"/>
          </a:xfrm>
          <a:prstGeom prst="roundRect">
            <a:avLst>
              <a:gd name="adj" fmla="val 2222"/>
            </a:avLst>
          </a:prstGeom>
          <a:solidFill>
            <a:srgbClr val="F5F5F7"/>
          </a:solidFill>
          <a:ln w="12700">
            <a:solidFill>
              <a:srgbClr val="F5F5F7"/>
            </a:solidFill>
            <a:prstDash val="solid"/>
          </a:ln>
        </p:spPr>
      </p:sp>
      <p:sp>
        <p:nvSpPr>
          <p:cNvPr id="3" name="Text 1"/>
          <p:cNvSpPr txBox="1"/>
          <p:nvPr/>
        </p:nvSpPr>
        <p:spPr>
          <a:xfrm>
            <a:off x="502920" y="365760"/>
            <a:ext cx="3749040" cy="365760"/>
          </a:xfrm>
          <a:prstGeom prst="rect">
            <a:avLst/>
          </a:prstGeom>
          <a:noFill/>
          <a:ln/>
        </p:spPr>
        <p:txBody>
          <a:bodyPr wrap="square" lIns="0" tIns="0" rIns="0" bIns="0" rtlCol="0" anchor="t"/>
          <a:lstStyle/>
          <a:p>
            <a:pPr indent="0" marL="0">
              <a:buNone/>
            </a:pPr>
            <a:r>
              <a:rPr lang="en-US" sz="750" dirty="0">
                <a:solidFill>
                  <a:srgbClr val="8E8E93"/>
                </a:solidFill>
                <a:latin typeface="Arial" pitchFamily="34" charset="0"/>
                <a:ea typeface="Arial" pitchFamily="34" charset="-122"/>
                <a:cs typeface="Arial" pitchFamily="34" charset="-120"/>
              </a:rPr>
              <a:t>Customer count</a:t>
            </a:r>
            <a:endParaRPr lang="en-US" sz="750" dirty="0"/>
          </a:p>
          <a:p>
            <a:pPr indent="0" marL="0">
              <a:buNone/>
            </a:pPr>
            <a:r>
              <a:rPr lang="en-US" sz="750" b="1" dirty="0">
                <a:solidFill>
                  <a:srgbClr val="000000"/>
                </a:solidFill>
                <a:latin typeface="Arial" pitchFamily="34" charset="0"/>
                <a:ea typeface="Arial" pitchFamily="34" charset="-122"/>
                <a:cs typeface="Arial" pitchFamily="34" charset="-120"/>
              </a:rPr>
              <a:t>Commercial</a:t>
            </a:r>
            <a:endParaRPr lang="en-US" sz="750" dirty="0"/>
          </a:p>
        </p:txBody>
      </p:sp>
      <p:graphicFrame>
        <p:nvGraphicFramePr>
          <p:cNvPr id="4" name="Chart 0" descr=""/>
          <p:cNvGraphicFramePr/>
          <p:nvPr/>
        </p:nvGraphicFramePr>
        <p:xfrm>
          <a:off x="411480" y="868680"/>
          <a:ext cx="393192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709160" y="228600"/>
            <a:ext cx="4114800" cy="4663440"/>
          </a:xfrm>
          <a:prstGeom prst="roundRect">
            <a:avLst>
              <a:gd name="adj" fmla="val 2222"/>
            </a:avLst>
          </a:prstGeom>
          <a:solidFill>
            <a:srgbClr val="F5F5F7"/>
          </a:solidFill>
          <a:ln w="12700">
            <a:solidFill>
              <a:srgbClr val="F5F5F7"/>
            </a:solidFill>
            <a:prstDash val="solid"/>
          </a:ln>
        </p:spPr>
      </p:sp>
      <p:sp>
        <p:nvSpPr>
          <p:cNvPr id="6" name="Text 3"/>
          <p:cNvSpPr txBox="1"/>
          <p:nvPr/>
        </p:nvSpPr>
        <p:spPr>
          <a:xfrm>
            <a:off x="4892040" y="365760"/>
            <a:ext cx="3749040" cy="365760"/>
          </a:xfrm>
          <a:prstGeom prst="rect">
            <a:avLst/>
          </a:prstGeom>
          <a:noFill/>
          <a:ln/>
        </p:spPr>
        <p:txBody>
          <a:bodyPr wrap="square" lIns="0" tIns="0" rIns="0" bIns="0" rtlCol="0" anchor="t"/>
          <a:lstStyle/>
          <a:p>
            <a:pPr indent="0" marL="0">
              <a:buNone/>
            </a:pPr>
            <a:r>
              <a:rPr lang="en-US" sz="750" dirty="0">
                <a:solidFill>
                  <a:srgbClr val="8E8E93"/>
                </a:solidFill>
                <a:latin typeface="Arial" pitchFamily="34" charset="0"/>
                <a:ea typeface="Arial" pitchFamily="34" charset="-122"/>
                <a:cs typeface="Arial" pitchFamily="34" charset="-120"/>
              </a:rPr>
              <a:t>Customer count</a:t>
            </a:r>
            <a:endParaRPr lang="en-US" sz="750" dirty="0"/>
          </a:p>
          <a:p>
            <a:pPr indent="0" marL="0">
              <a:buNone/>
            </a:pPr>
            <a:r>
              <a:rPr lang="en-US" sz="750" b="1" dirty="0">
                <a:solidFill>
                  <a:srgbClr val="000000"/>
                </a:solidFill>
                <a:latin typeface="Arial" pitchFamily="34" charset="0"/>
                <a:ea typeface="Arial" pitchFamily="34" charset="-122"/>
                <a:cs typeface="Arial" pitchFamily="34" charset="-120"/>
              </a:rPr>
              <a:t>Total</a:t>
            </a:r>
            <a:endParaRPr lang="en-US" sz="750" dirty="0"/>
          </a:p>
        </p:txBody>
      </p:sp>
      <p:sp>
        <p:nvSpPr>
          <p:cNvPr id="7" name="Text 4"/>
          <p:cNvSpPr txBox="1"/>
          <p:nvPr/>
        </p:nvSpPr>
        <p:spPr>
          <a:xfrm>
            <a:off x="6766560" y="731520"/>
            <a:ext cx="1783080" cy="182880"/>
          </a:xfrm>
          <a:prstGeom prst="rect">
            <a:avLst/>
          </a:prstGeom>
          <a:noFill/>
          <a:ln/>
        </p:spPr>
        <p:txBody>
          <a:bodyPr wrap="square" lIns="0" tIns="0" rIns="0" bIns="0" rtlCol="0" anchor="ctr"/>
          <a:lstStyle/>
          <a:p>
            <a:pPr algn="ctr" indent="0" marL="0">
              <a:buNone/>
            </a:pPr>
            <a:r>
              <a:rPr lang="en-US" sz="750" dirty="0">
                <a:solidFill>
                  <a:srgbClr val="8E8E93"/>
                </a:solidFill>
                <a:latin typeface="Arial" pitchFamily="34" charset="0"/>
                <a:ea typeface="Arial" pitchFamily="34" charset="-122"/>
                <a:cs typeface="Arial" pitchFamily="34" charset="-120"/>
              </a:rPr>
              <a:t>+100% YoY</a:t>
            </a:r>
            <a:endParaRPr lang="en-US" sz="750" dirty="0"/>
          </a:p>
        </p:txBody>
      </p:sp>
      <p:graphicFrame>
        <p:nvGraphicFramePr>
          <p:cNvPr id="8" name="Chart 1" descr=""/>
          <p:cNvGraphicFramePr/>
          <p:nvPr/>
        </p:nvGraphicFramePr>
        <p:xfrm>
          <a:off x="4800600" y="868680"/>
          <a:ext cx="3931920" cy="393192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28600"/>
            <a:ext cx="2743200" cy="1463040"/>
          </a:xfrm>
          <a:prstGeom prst="rect">
            <a:avLst/>
          </a:prstGeom>
          <a:noFill/>
          <a:ln/>
        </p:spPr>
        <p:txBody>
          <a:bodyPr wrap="square" lIns="0" tIns="0" rIns="0" bIns="0" rtlCol="0" anchor="b"/>
          <a:lstStyle/>
          <a:p>
            <a:pPr indent="0" marL="0">
              <a:lnSpc>
                <a:spcPct val="95000"/>
              </a:lnSpc>
              <a:buNone/>
            </a:pPr>
            <a:r>
              <a:rPr lang="en-US" sz="1800" dirty="0">
                <a:solidFill>
                  <a:srgbClr val="8E8E93"/>
                </a:solidFill>
                <a:latin typeface="Arial" pitchFamily="34" charset="0"/>
                <a:ea typeface="Arial" pitchFamily="34" charset="-122"/>
                <a:cs typeface="Arial" pitchFamily="34" charset="-120"/>
              </a:rPr>
              <a:t>FY 2024</a:t>
            </a:r>
            <a:endParaRPr lang="en-US" sz="1800" dirty="0"/>
          </a:p>
          <a:p>
            <a:pPr indent="0" marL="0">
              <a:lnSpc>
                <a:spcPct val="95000"/>
              </a:lnSpc>
              <a:buNone/>
            </a:pPr>
            <a:r>
              <a:rPr lang="en-US" sz="1800" b="1" dirty="0">
                <a:solidFill>
                  <a:srgbClr val="000000"/>
                </a:solidFill>
                <a:latin typeface="Arial" pitchFamily="34" charset="0"/>
                <a:ea typeface="Arial" pitchFamily="34" charset="-122"/>
                <a:cs typeface="Arial" pitchFamily="34" charset="-120"/>
              </a:rPr>
              <a:t>Highlights</a:t>
            </a:r>
            <a:endParaRPr lang="en-US" sz="1800" dirty="0"/>
          </a:p>
        </p:txBody>
      </p:sp>
      <p:sp>
        <p:nvSpPr>
          <p:cNvPr id="3" name="Shape 1"/>
          <p:cNvSpPr/>
          <p:nvPr/>
        </p:nvSpPr>
        <p:spPr>
          <a:xfrm>
            <a:off x="320040" y="1828800"/>
            <a:ext cx="2743200" cy="3063240"/>
          </a:xfrm>
          <a:prstGeom prst="roundRect">
            <a:avLst>
              <a:gd name="adj" fmla="val 3333"/>
            </a:avLst>
          </a:prstGeom>
          <a:solidFill>
            <a:srgbClr val="C7C7CC"/>
          </a:solidFill>
          <a:ln w="12700">
            <a:solidFill>
              <a:srgbClr val="C7C7CC"/>
            </a:solidFill>
            <a:prstDash val="solid"/>
          </a:ln>
        </p:spPr>
      </p:sp>
      <p:sp>
        <p:nvSpPr>
          <p:cNvPr id="4" name="Text 2"/>
          <p:cNvSpPr txBox="1"/>
          <p:nvPr/>
        </p:nvSpPr>
        <p:spPr>
          <a:xfrm>
            <a:off x="502920" y="2011680"/>
            <a:ext cx="2377440" cy="2496312"/>
          </a:xfrm>
          <a:prstGeom prst="rect">
            <a:avLst/>
          </a:prstGeom>
          <a:noFill/>
          <a:ln/>
        </p:spPr>
        <p:txBody>
          <a:bodyPr wrap="square" lIns="0" tIns="0" rIns="0" bIns="0" rtlCol="0" anchor="ctr"/>
          <a:lstStyle/>
          <a:p>
            <a:pPr indent="0" marL="0">
              <a:lnSpc>
                <a:spcPct val="110000"/>
              </a:lnSpc>
              <a:buNone/>
            </a:pPr>
            <a:r>
              <a:rPr lang="en-US" sz="850" b="1" dirty="0">
                <a:solidFill>
                  <a:srgbClr val="1C1C1E"/>
                </a:solidFill>
                <a:latin typeface="Arial" pitchFamily="34" charset="0"/>
                <a:ea typeface="Arial" pitchFamily="34" charset="-122"/>
                <a:cs typeface="Arial" pitchFamily="34" charset="-120"/>
              </a:rPr>
              <a:t>"Company X forges a resilient platform for complex, critical AI use cases, offering seamless integration and scalability. This platform empowers enterprises to leverage advanced AI technologies swiftly and efficiently, ensuring they remain at the forefront of innovation in their industry."</a:t>
            </a:r>
            <a:endParaRPr lang="en-US" sz="850" dirty="0"/>
          </a:p>
        </p:txBody>
      </p:sp>
      <p:sp>
        <p:nvSpPr>
          <p:cNvPr id="5" name="Text 3"/>
          <p:cNvSpPr txBox="1"/>
          <p:nvPr/>
        </p:nvSpPr>
        <p:spPr>
          <a:xfrm>
            <a:off x="502920" y="4507992"/>
            <a:ext cx="2377440" cy="201168"/>
          </a:xfrm>
          <a:prstGeom prst="rect">
            <a:avLst/>
          </a:prstGeom>
          <a:noFill/>
          <a:ln/>
        </p:spPr>
        <p:txBody>
          <a:bodyPr wrap="square" lIns="0" tIns="0" rIns="0" bIns="0" rtlCol="0" anchor="b"/>
          <a:lstStyle/>
          <a:p>
            <a:pPr indent="0" marL="0">
              <a:buNone/>
            </a:pPr>
            <a:r>
              <a:rPr lang="en-US" sz="550" dirty="0">
                <a:solidFill>
                  <a:srgbClr val="1C1C1E"/>
                </a:solidFill>
                <a:latin typeface="Arial" pitchFamily="34" charset="0"/>
                <a:ea typeface="Arial" pitchFamily="34" charset="-122"/>
                <a:cs typeface="Arial" pitchFamily="34" charset="-120"/>
              </a:rPr>
              <a:t>– Source</a:t>
            </a:r>
            <a:endParaRPr lang="en-US" sz="550" dirty="0"/>
          </a:p>
        </p:txBody>
      </p:sp>
      <p:sp>
        <p:nvSpPr>
          <p:cNvPr id="6" name="Shape 4"/>
          <p:cNvSpPr/>
          <p:nvPr/>
        </p:nvSpPr>
        <p:spPr>
          <a:xfrm>
            <a:off x="3200400" y="228600"/>
            <a:ext cx="2743200" cy="1463040"/>
          </a:xfrm>
          <a:prstGeom prst="roundRect">
            <a:avLst>
              <a:gd name="adj" fmla="val 6250"/>
            </a:avLst>
          </a:prstGeom>
          <a:solidFill>
            <a:srgbClr val="E5E5EA"/>
          </a:solidFill>
          <a:ln w="12700">
            <a:solidFill>
              <a:srgbClr val="E5E5EA"/>
            </a:solidFill>
            <a:prstDash val="solid"/>
          </a:ln>
        </p:spPr>
      </p:sp>
      <p:sp>
        <p:nvSpPr>
          <p:cNvPr id="7" name="Text 5"/>
          <p:cNvSpPr txBox="1"/>
          <p:nvPr/>
        </p:nvSpPr>
        <p:spPr>
          <a:xfrm>
            <a:off x="3383280" y="411480"/>
            <a:ext cx="2377440" cy="896112"/>
          </a:xfrm>
          <a:prstGeom prst="rect">
            <a:avLst/>
          </a:prstGeom>
          <a:noFill/>
          <a:ln/>
        </p:spPr>
        <p:txBody>
          <a:bodyPr wrap="square" lIns="0" tIns="0" rIns="0" bIns="0" rtlCol="0" anchor="ctr"/>
          <a:lstStyle/>
          <a:p>
            <a:pPr indent="0" marL="0">
              <a:lnSpc>
                <a:spcPct val="110000"/>
              </a:lnSpc>
              <a:buNone/>
            </a:pPr>
            <a:r>
              <a:rPr lang="en-US" sz="850" b="1" dirty="0">
                <a:solidFill>
                  <a:srgbClr val="1C1C1E"/>
                </a:solidFill>
                <a:latin typeface="Arial" pitchFamily="34" charset="0"/>
                <a:ea typeface="Arial" pitchFamily="34" charset="-122"/>
                <a:cs typeface="Arial" pitchFamily="34" charset="-120"/>
              </a:rPr>
              <a:t>"A New Era in AI: Company X's Breakthroughs Redefine Enterprise Solutions"</a:t>
            </a:r>
            <a:endParaRPr lang="en-US" sz="850" dirty="0"/>
          </a:p>
        </p:txBody>
      </p:sp>
      <p:sp>
        <p:nvSpPr>
          <p:cNvPr id="8" name="Text 6"/>
          <p:cNvSpPr txBox="1"/>
          <p:nvPr/>
        </p:nvSpPr>
        <p:spPr>
          <a:xfrm>
            <a:off x="3383280" y="1307592"/>
            <a:ext cx="2377440" cy="201168"/>
          </a:xfrm>
          <a:prstGeom prst="rect">
            <a:avLst/>
          </a:prstGeom>
          <a:noFill/>
          <a:ln/>
        </p:spPr>
        <p:txBody>
          <a:bodyPr wrap="square" lIns="0" tIns="0" rIns="0" bIns="0" rtlCol="0" anchor="b"/>
          <a:lstStyle/>
          <a:p>
            <a:pPr indent="0" marL="0">
              <a:buNone/>
            </a:pPr>
            <a:r>
              <a:rPr lang="en-US" sz="550" dirty="0">
                <a:solidFill>
                  <a:srgbClr val="1C1C1E"/>
                </a:solidFill>
                <a:latin typeface="Arial" pitchFamily="34" charset="0"/>
                <a:ea typeface="Arial" pitchFamily="34" charset="-122"/>
                <a:cs typeface="Arial" pitchFamily="34" charset="-120"/>
              </a:rPr>
              <a:t>– TechCrunch</a:t>
            </a:r>
            <a:endParaRPr lang="en-US" sz="550" dirty="0"/>
          </a:p>
        </p:txBody>
      </p:sp>
      <p:sp>
        <p:nvSpPr>
          <p:cNvPr id="9" name="Shape 7"/>
          <p:cNvSpPr/>
          <p:nvPr/>
        </p:nvSpPr>
        <p:spPr>
          <a:xfrm>
            <a:off x="3200400" y="1828800"/>
            <a:ext cx="2743200" cy="1463040"/>
          </a:xfrm>
          <a:prstGeom prst="roundRect">
            <a:avLst>
              <a:gd name="adj" fmla="val 6250"/>
            </a:avLst>
          </a:prstGeom>
          <a:solidFill>
            <a:srgbClr val="E5E5EA"/>
          </a:solidFill>
          <a:ln w="12700">
            <a:solidFill>
              <a:srgbClr val="E5E5EA"/>
            </a:solidFill>
            <a:prstDash val="solid"/>
          </a:ln>
        </p:spPr>
      </p:sp>
      <p:sp>
        <p:nvSpPr>
          <p:cNvPr id="10" name="Text 8"/>
          <p:cNvSpPr txBox="1"/>
          <p:nvPr/>
        </p:nvSpPr>
        <p:spPr>
          <a:xfrm>
            <a:off x="3383280" y="2011680"/>
            <a:ext cx="2377440" cy="1097280"/>
          </a:xfrm>
          <a:prstGeom prst="rect">
            <a:avLst/>
          </a:prstGeom>
          <a:noFill/>
          <a:ln/>
        </p:spPr>
        <p:txBody>
          <a:bodyPr wrap="square" lIns="0" tIns="0" rIns="0" bIns="0" rtlCol="0" anchor="ctr"/>
          <a:lstStyle/>
          <a:p>
            <a:pPr indent="0" marL="0">
              <a:lnSpc>
                <a:spcPct val="110000"/>
              </a:lnSpc>
              <a:buNone/>
            </a:pPr>
            <a:r>
              <a:rPr lang="en-US" sz="1500" b="1" dirty="0">
                <a:solidFill>
                  <a:srgbClr val="1C1C1E"/>
                </a:solidFill>
                <a:latin typeface="Arial" pitchFamily="34" charset="0"/>
                <a:ea typeface="Arial" pitchFamily="34" charset="-122"/>
                <a:cs typeface="Arial" pitchFamily="34" charset="-120"/>
              </a:rPr>
              <a:t>+10 new stores</a:t>
            </a:r>
            <a:endParaRPr lang="en-US" sz="1500" dirty="0"/>
          </a:p>
        </p:txBody>
      </p:sp>
      <p:sp>
        <p:nvSpPr>
          <p:cNvPr id="11" name="Shape 9"/>
          <p:cNvSpPr/>
          <p:nvPr/>
        </p:nvSpPr>
        <p:spPr>
          <a:xfrm>
            <a:off x="3200400" y="3429000"/>
            <a:ext cx="2743200" cy="1463040"/>
          </a:xfrm>
          <a:prstGeom prst="roundRect">
            <a:avLst>
              <a:gd name="adj" fmla="val 6250"/>
            </a:avLst>
          </a:prstGeom>
          <a:solidFill>
            <a:srgbClr val="E5E5EA"/>
          </a:solidFill>
          <a:ln w="12700">
            <a:solidFill>
              <a:srgbClr val="E5E5EA"/>
            </a:solidFill>
            <a:prstDash val="solid"/>
          </a:ln>
        </p:spPr>
      </p:sp>
      <p:sp>
        <p:nvSpPr>
          <p:cNvPr id="12" name="Text 10"/>
          <p:cNvSpPr txBox="1"/>
          <p:nvPr/>
        </p:nvSpPr>
        <p:spPr>
          <a:xfrm>
            <a:off x="3383280" y="3611880"/>
            <a:ext cx="2377440" cy="896112"/>
          </a:xfrm>
          <a:prstGeom prst="rect">
            <a:avLst/>
          </a:prstGeom>
          <a:noFill/>
          <a:ln/>
        </p:spPr>
        <p:txBody>
          <a:bodyPr wrap="square" lIns="0" tIns="0" rIns="0" bIns="0" rtlCol="0" anchor="ctr"/>
          <a:lstStyle/>
          <a:p>
            <a:pPr indent="0" marL="0">
              <a:lnSpc>
                <a:spcPct val="110000"/>
              </a:lnSpc>
              <a:buNone/>
            </a:pPr>
            <a:r>
              <a:rPr lang="en-US" sz="850" b="1" dirty="0">
                <a:solidFill>
                  <a:srgbClr val="1C1C1E"/>
                </a:solidFill>
                <a:latin typeface="Arial" pitchFamily="34" charset="0"/>
                <a:ea typeface="Arial" pitchFamily="34" charset="-122"/>
                <a:cs typeface="Arial" pitchFamily="34" charset="-120"/>
              </a:rPr>
              <a:t>"Company X Revolutionises AI Integration, Setting New Industry Standards"</a:t>
            </a:r>
            <a:endParaRPr lang="en-US" sz="850" dirty="0"/>
          </a:p>
        </p:txBody>
      </p:sp>
      <p:sp>
        <p:nvSpPr>
          <p:cNvPr id="13" name="Text 11"/>
          <p:cNvSpPr txBox="1"/>
          <p:nvPr/>
        </p:nvSpPr>
        <p:spPr>
          <a:xfrm>
            <a:off x="3383280" y="4507992"/>
            <a:ext cx="2377440" cy="201168"/>
          </a:xfrm>
          <a:prstGeom prst="rect">
            <a:avLst/>
          </a:prstGeom>
          <a:noFill/>
          <a:ln/>
        </p:spPr>
        <p:txBody>
          <a:bodyPr wrap="square" lIns="0" tIns="0" rIns="0" bIns="0" rtlCol="0" anchor="b"/>
          <a:lstStyle/>
          <a:p>
            <a:pPr indent="0" marL="0">
              <a:buNone/>
            </a:pPr>
            <a:r>
              <a:rPr lang="en-US" sz="550" dirty="0">
                <a:solidFill>
                  <a:srgbClr val="1C1C1E"/>
                </a:solidFill>
                <a:latin typeface="Arial" pitchFamily="34" charset="0"/>
                <a:ea typeface="Arial" pitchFamily="34" charset="-122"/>
                <a:cs typeface="Arial" pitchFamily="34" charset="-120"/>
              </a:rPr>
              <a:t>– Bloomberg</a:t>
            </a:r>
            <a:endParaRPr lang="en-US" sz="550" dirty="0"/>
          </a:p>
        </p:txBody>
      </p:sp>
      <p:sp>
        <p:nvSpPr>
          <p:cNvPr id="14" name="Shape 12"/>
          <p:cNvSpPr/>
          <p:nvPr/>
        </p:nvSpPr>
        <p:spPr>
          <a:xfrm>
            <a:off x="6080760" y="228600"/>
            <a:ext cx="2743200" cy="3063240"/>
          </a:xfrm>
          <a:prstGeom prst="roundRect">
            <a:avLst>
              <a:gd name="adj" fmla="val 3333"/>
            </a:avLst>
          </a:prstGeom>
          <a:solidFill>
            <a:srgbClr val="C7C7CC"/>
          </a:solidFill>
          <a:ln w="12700">
            <a:solidFill>
              <a:srgbClr val="C7C7CC"/>
            </a:solidFill>
            <a:prstDash val="solid"/>
          </a:ln>
        </p:spPr>
      </p:sp>
      <p:sp>
        <p:nvSpPr>
          <p:cNvPr id="15" name="Text 13"/>
          <p:cNvSpPr txBox="1"/>
          <p:nvPr/>
        </p:nvSpPr>
        <p:spPr>
          <a:xfrm>
            <a:off x="6263640" y="411480"/>
            <a:ext cx="2377440" cy="2697480"/>
          </a:xfrm>
          <a:prstGeom prst="rect">
            <a:avLst/>
          </a:prstGeom>
          <a:noFill/>
          <a:ln/>
        </p:spPr>
        <p:txBody>
          <a:bodyPr wrap="square" lIns="0" tIns="0" rIns="0" bIns="0" rtlCol="0" anchor="ctr"/>
          <a:lstStyle/>
          <a:p>
            <a:pPr indent="0" marL="0">
              <a:lnSpc>
                <a:spcPct val="110000"/>
              </a:lnSpc>
              <a:buNone/>
            </a:pPr>
            <a:r>
              <a:rPr lang="en-US" sz="2000" b="1" dirty="0">
                <a:solidFill>
                  <a:srgbClr val="1C1C1E"/>
                </a:solidFill>
                <a:latin typeface="Arial" pitchFamily="34" charset="0"/>
                <a:ea typeface="Arial" pitchFamily="34" charset="-122"/>
                <a:cs typeface="Arial" pitchFamily="34" charset="-120"/>
              </a:rPr>
              <a:t>74M</a:t>
            </a:r>
            <a:endParaRPr lang="en-US" sz="2000" dirty="0"/>
          </a:p>
          <a:p>
            <a:pPr indent="0" marL="0">
              <a:lnSpc>
                <a:spcPct val="110000"/>
              </a:lnSpc>
              <a:buNone/>
            </a:pPr>
            <a:r>
              <a:rPr lang="en-US" sz="2000" b="1" dirty="0">
                <a:solidFill>
                  <a:srgbClr val="1C1C1E"/>
                </a:solidFill>
                <a:latin typeface="Arial" pitchFamily="34" charset="0"/>
                <a:ea typeface="Arial" pitchFamily="34" charset="-122"/>
                <a:cs typeface="Arial" pitchFamily="34" charset="-120"/>
              </a:rPr>
              <a:t>units sold</a:t>
            </a:r>
            <a:endParaRPr lang="en-US" sz="2000" dirty="0"/>
          </a:p>
        </p:txBody>
      </p:sp>
      <p:sp>
        <p:nvSpPr>
          <p:cNvPr id="16" name="Shape 14"/>
          <p:cNvSpPr/>
          <p:nvPr/>
        </p:nvSpPr>
        <p:spPr>
          <a:xfrm>
            <a:off x="6080760" y="3429000"/>
            <a:ext cx="2743200" cy="1463040"/>
          </a:xfrm>
          <a:prstGeom prst="roundRect">
            <a:avLst>
              <a:gd name="adj" fmla="val 6250"/>
            </a:avLst>
          </a:prstGeom>
          <a:solidFill>
            <a:srgbClr val="C7C7CC"/>
          </a:solidFill>
          <a:ln w="12700">
            <a:solidFill>
              <a:srgbClr val="C7C7CC"/>
            </a:solidFill>
            <a:prstDash val="solid"/>
          </a:ln>
        </p:spPr>
      </p:sp>
      <p:sp>
        <p:nvSpPr>
          <p:cNvPr id="17" name="Text 15"/>
          <p:cNvSpPr txBox="1"/>
          <p:nvPr/>
        </p:nvSpPr>
        <p:spPr>
          <a:xfrm>
            <a:off x="6263640" y="3611880"/>
            <a:ext cx="2377440" cy="1097280"/>
          </a:xfrm>
          <a:prstGeom prst="rect">
            <a:avLst/>
          </a:prstGeom>
          <a:noFill/>
          <a:ln/>
        </p:spPr>
        <p:txBody>
          <a:bodyPr wrap="square" lIns="0" tIns="0" rIns="0" bIns="0" rtlCol="0" anchor="ctr"/>
          <a:lstStyle/>
          <a:p>
            <a:pPr indent="0" marL="0">
              <a:lnSpc>
                <a:spcPct val="110000"/>
              </a:lnSpc>
              <a:buNone/>
            </a:pPr>
            <a:r>
              <a:rPr lang="en-US" sz="1500" b="1" dirty="0">
                <a:solidFill>
                  <a:srgbClr val="1C1C1E"/>
                </a:solidFill>
                <a:latin typeface="Arial" pitchFamily="34" charset="0"/>
                <a:ea typeface="Arial" pitchFamily="34" charset="-122"/>
                <a:cs typeface="Arial" pitchFamily="34" charset="-120"/>
              </a:rPr>
              <a:t>▲ 14M</a:t>
            </a:r>
            <a:endParaRPr lang="en-US" sz="1500" dirty="0"/>
          </a:p>
          <a:p>
            <a:pPr indent="0" marL="0">
              <a:lnSpc>
                <a:spcPct val="110000"/>
              </a:lnSpc>
              <a:buNone/>
            </a:pPr>
            <a:r>
              <a:rPr lang="en-US" sz="1500" b="1" dirty="0">
                <a:solidFill>
                  <a:srgbClr val="1C1C1E"/>
                </a:solidFill>
                <a:latin typeface="Arial" pitchFamily="34" charset="0"/>
                <a:ea typeface="Arial" pitchFamily="34" charset="-122"/>
                <a:cs typeface="Arial" pitchFamily="34" charset="-120"/>
              </a:rPr>
              <a:t>Subscribers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Revenue</a:t>
            </a:r>
            <a:endParaRPr lang="en-US" sz="700" dirty="0"/>
          </a:p>
        </p:txBody>
      </p:sp>
      <p:sp>
        <p:nvSpPr>
          <p:cNvPr id="3" name="Text 1"/>
          <p:cNvSpPr txBox="1"/>
          <p:nvPr/>
        </p:nvSpPr>
        <p:spPr>
          <a:xfrm>
            <a:off x="320040" y="274320"/>
            <a:ext cx="6035040" cy="1143000"/>
          </a:xfrm>
          <a:prstGeom prst="rect">
            <a:avLst/>
          </a:prstGeom>
          <a:noFill/>
          <a:ln/>
        </p:spPr>
        <p:txBody>
          <a:bodyPr wrap="square" lIns="0" tIns="0" rIns="0" bIns="0" rtlCol="0" anchor="t"/>
          <a:lstStyle/>
          <a:p>
            <a:pPr indent="0" marL="0">
              <a:lnSpc>
                <a:spcPct val="95000"/>
              </a:lnSpc>
              <a:buNone/>
            </a:pPr>
            <a:r>
              <a:rPr lang="en-US" sz="3000" b="1" dirty="0">
                <a:solidFill>
                  <a:srgbClr val="000000"/>
                </a:solidFill>
                <a:latin typeface="Arial" pitchFamily="34" charset="0"/>
                <a:ea typeface="Arial" pitchFamily="34" charset="-122"/>
                <a:cs typeface="Arial" pitchFamily="34" charset="-120"/>
              </a:rPr>
              <a:t>Total revenue</a:t>
            </a:r>
            <a:endParaRPr lang="en-US" sz="3000" dirty="0"/>
          </a:p>
          <a:p>
            <a:pPr indent="0" marL="0">
              <a:lnSpc>
                <a:spcPct val="95000"/>
              </a:lnSpc>
              <a:buNone/>
            </a:pPr>
            <a:r>
              <a:rPr lang="en-US" sz="3000" b="1" dirty="0">
                <a:solidFill>
                  <a:srgbClr val="000000"/>
                </a:solidFill>
                <a:latin typeface="Arial" pitchFamily="34" charset="0"/>
                <a:ea typeface="Arial" pitchFamily="34" charset="-122"/>
                <a:cs typeface="Arial" pitchFamily="34" charset="-120"/>
              </a:rPr>
              <a:t>of $12.4 billion</a:t>
            </a:r>
            <a:endParaRPr lang="en-US" sz="3000" dirty="0"/>
          </a:p>
        </p:txBody>
      </p:sp>
      <p:sp>
        <p:nvSpPr>
          <p:cNvPr id="4" name="Text 2"/>
          <p:cNvSpPr txBox="1"/>
          <p:nvPr/>
        </p:nvSpPr>
        <p:spPr>
          <a:xfrm>
            <a:off x="5852160" y="274320"/>
            <a:ext cx="2971800" cy="1097280"/>
          </a:xfrm>
          <a:prstGeom prst="rect">
            <a:avLst/>
          </a:prstGeom>
          <a:noFill/>
          <a:ln/>
        </p:spPr>
        <p:txBody>
          <a:bodyPr wrap="square" lIns="0" tIns="0" rIns="0" bIns="0" rtlCol="0" anchor="t"/>
          <a:lstStyle/>
          <a:p>
            <a:pPr indent="0" marL="0">
              <a:spcAft>
                <a:spcPts val="600"/>
              </a:spcAft>
              <a:buNone/>
            </a:pPr>
            <a:r>
              <a:rPr lang="en-US" sz="650" dirty="0">
                <a:solidFill>
                  <a:srgbClr val="000000"/>
                </a:solidFill>
                <a:latin typeface="Arial" pitchFamily="34" charset="0"/>
                <a:ea typeface="Arial" pitchFamily="34" charset="-122"/>
                <a:cs typeface="Arial" pitchFamily="34" charset="-120"/>
              </a:rPr>
              <a:t>Company X had a successful year in 2022, generating $12.4 billion in revenue, which is a significant increase from the previous year's earnings. The company's focus on innovation led to the development of innovative and high-quality products that met the needs and demands of its target audience.</a:t>
            </a:r>
            <a:endParaRPr lang="en-US" sz="650" dirty="0"/>
          </a:p>
        </p:txBody>
      </p:sp>
      <p:sp>
        <p:nvSpPr>
          <p:cNvPr id="5" name="Shape 3"/>
          <p:cNvSpPr/>
          <p:nvPr/>
        </p:nvSpPr>
        <p:spPr>
          <a:xfrm>
            <a:off x="320040" y="3410712"/>
            <a:ext cx="91440" cy="91440"/>
          </a:xfrm>
          <a:prstGeom prst="ellipse">
            <a:avLst/>
          </a:prstGeom>
          <a:solidFill>
            <a:srgbClr val="8E8E93"/>
          </a:solidFill>
          <a:ln w="12700">
            <a:solidFill>
              <a:srgbClr val="8E8E93"/>
            </a:solidFill>
            <a:prstDash val="solid"/>
          </a:ln>
        </p:spPr>
      </p:sp>
      <p:sp>
        <p:nvSpPr>
          <p:cNvPr id="6" name="Text 4"/>
          <p:cNvSpPr txBox="1"/>
          <p:nvPr/>
        </p:nvSpPr>
        <p:spPr>
          <a:xfrm>
            <a:off x="475488" y="3383280"/>
            <a:ext cx="2011680" cy="146304"/>
          </a:xfrm>
          <a:prstGeom prst="rect">
            <a:avLst/>
          </a:prstGeom>
          <a:noFill/>
          <a:ln/>
        </p:spPr>
        <p:txBody>
          <a:bodyPr wrap="square" lIns="0" tIns="0" rIns="0" bIns="0" rtlCol="0" anchor="ctr"/>
          <a:lstStyle/>
          <a:p>
            <a:pPr indent="0" marL="0">
              <a:buNone/>
            </a:pPr>
            <a:r>
              <a:rPr lang="en-US" sz="650" dirty="0">
                <a:solidFill>
                  <a:srgbClr val="3A3A3C"/>
                </a:solidFill>
                <a:latin typeface="Arial" pitchFamily="34" charset="0"/>
                <a:ea typeface="Arial" pitchFamily="34" charset="-122"/>
                <a:cs typeface="Arial" pitchFamily="34" charset="-120"/>
              </a:rPr>
              <a:t>E-commerce</a:t>
            </a:r>
            <a:endParaRPr lang="en-US" sz="650" dirty="0"/>
          </a:p>
        </p:txBody>
      </p:sp>
      <p:sp>
        <p:nvSpPr>
          <p:cNvPr id="7" name="Shape 5"/>
          <p:cNvSpPr/>
          <p:nvPr/>
        </p:nvSpPr>
        <p:spPr>
          <a:xfrm>
            <a:off x="320040" y="3584448"/>
            <a:ext cx="91440" cy="91440"/>
          </a:xfrm>
          <a:prstGeom prst="ellipse">
            <a:avLst/>
          </a:prstGeom>
          <a:solidFill>
            <a:srgbClr val="D1D1D6"/>
          </a:solidFill>
          <a:ln w="12700">
            <a:solidFill>
              <a:srgbClr val="D1D1D6"/>
            </a:solidFill>
            <a:prstDash val="solid"/>
          </a:ln>
        </p:spPr>
      </p:sp>
      <p:sp>
        <p:nvSpPr>
          <p:cNvPr id="8" name="Text 6"/>
          <p:cNvSpPr txBox="1"/>
          <p:nvPr/>
        </p:nvSpPr>
        <p:spPr>
          <a:xfrm>
            <a:off x="475488" y="3557016"/>
            <a:ext cx="2011680" cy="146304"/>
          </a:xfrm>
          <a:prstGeom prst="rect">
            <a:avLst/>
          </a:prstGeom>
          <a:noFill/>
          <a:ln/>
        </p:spPr>
        <p:txBody>
          <a:bodyPr wrap="square" lIns="0" tIns="0" rIns="0" bIns="0" rtlCol="0" anchor="ctr"/>
          <a:lstStyle/>
          <a:p>
            <a:pPr indent="0" marL="0">
              <a:buNone/>
            </a:pPr>
            <a:r>
              <a:rPr lang="en-US" sz="650" dirty="0">
                <a:solidFill>
                  <a:srgbClr val="3A3A3C"/>
                </a:solidFill>
                <a:latin typeface="Arial" pitchFamily="34" charset="0"/>
                <a:ea typeface="Arial" pitchFamily="34" charset="-122"/>
                <a:cs typeface="Arial" pitchFamily="34" charset="-120"/>
              </a:rPr>
              <a:t>Retail</a:t>
            </a:r>
            <a:endParaRPr lang="en-US" sz="650" dirty="0"/>
          </a:p>
        </p:txBody>
      </p:sp>
      <p:graphicFrame>
        <p:nvGraphicFramePr>
          <p:cNvPr id="9" name="Chart 0" descr=""/>
          <p:cNvGraphicFramePr/>
          <p:nvPr/>
        </p:nvGraphicFramePr>
        <p:xfrm>
          <a:off x="274320" y="3703320"/>
          <a:ext cx="8595360" cy="9601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1645920" y="4828032"/>
            <a:ext cx="5852160" cy="274320"/>
          </a:xfrm>
          <a:prstGeom prst="rect">
            <a:avLst/>
          </a:prstGeom>
          <a:noFill/>
          <a:ln/>
        </p:spPr>
        <p:txBody>
          <a:bodyPr wrap="square" lIns="0" tIns="0" rIns="0" bIns="0" rtlCol="0" anchor="t"/>
          <a:lstStyle/>
          <a:p>
            <a:pPr indent="0" marL="0">
              <a:buNone/>
            </a:pPr>
            <a:r>
              <a:rPr lang="en-US" sz="400" dirty="0">
                <a:solidFill>
                  <a:srgbClr val="8E8E93"/>
                </a:solidFill>
                <a:latin typeface="Arial" pitchFamily="34" charset="0"/>
                <a:ea typeface="Arial" pitchFamily="34" charset="-122"/>
                <a:cs typeface="Arial" pitchFamily="34" charset="-120"/>
              </a:rPr>
              <a:t>Source: company filings and internal reporting. All figures in this template are illustrative placeholders — replace them with reported values before distribution. Non-GAAP measures are reconciled to the most directly comparable GAAP measures in the appendix.</a:t>
            </a:r>
            <a:endParaRPr lang="en-US" sz="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Deals</a:t>
            </a:r>
            <a:endParaRPr lang="en-US" sz="700" dirty="0"/>
          </a:p>
        </p:txBody>
      </p:sp>
      <p:sp>
        <p:nvSpPr>
          <p:cNvPr id="3" name="Text 1"/>
          <p:cNvSpPr txBox="1"/>
          <p:nvPr/>
        </p:nvSpPr>
        <p:spPr>
          <a:xfrm>
            <a:off x="320040" y="274320"/>
            <a:ext cx="6035040" cy="1143000"/>
          </a:xfrm>
          <a:prstGeom prst="rect">
            <a:avLst/>
          </a:prstGeom>
          <a:noFill/>
          <a:ln/>
        </p:spPr>
        <p:txBody>
          <a:bodyPr wrap="square" lIns="0" tIns="0" rIns="0" bIns="0" rtlCol="0" anchor="t"/>
          <a:lstStyle/>
          <a:p>
            <a:pPr indent="0" marL="0">
              <a:lnSpc>
                <a:spcPct val="95000"/>
              </a:lnSpc>
              <a:buNone/>
            </a:pPr>
            <a:r>
              <a:rPr lang="en-US" sz="3000" b="1" dirty="0">
                <a:solidFill>
                  <a:srgbClr val="000000"/>
                </a:solidFill>
                <a:latin typeface="Arial" pitchFamily="34" charset="0"/>
                <a:ea typeface="Arial" pitchFamily="34" charset="-122"/>
                <a:cs typeface="Arial" pitchFamily="34" charset="-120"/>
              </a:rPr>
              <a:t>We closed 78 deals</a:t>
            </a:r>
            <a:endParaRPr lang="en-US" sz="3000" dirty="0"/>
          </a:p>
          <a:p>
            <a:pPr indent="0" marL="0">
              <a:lnSpc>
                <a:spcPct val="95000"/>
              </a:lnSpc>
              <a:buNone/>
            </a:pPr>
            <a:r>
              <a:rPr lang="en-US" sz="3000" b="1" dirty="0">
                <a:solidFill>
                  <a:srgbClr val="000000"/>
                </a:solidFill>
                <a:latin typeface="Arial" pitchFamily="34" charset="0"/>
                <a:ea typeface="Arial" pitchFamily="34" charset="-122"/>
                <a:cs typeface="Arial" pitchFamily="34" charset="-120"/>
              </a:rPr>
              <a:t>worth at least $1 million</a:t>
            </a:r>
            <a:endParaRPr lang="en-US" sz="3000" dirty="0"/>
          </a:p>
        </p:txBody>
      </p:sp>
      <p:sp>
        <p:nvSpPr>
          <p:cNvPr id="4" name="Shape 2"/>
          <p:cNvSpPr/>
          <p:nvPr/>
        </p:nvSpPr>
        <p:spPr>
          <a:xfrm>
            <a:off x="320040" y="1737360"/>
            <a:ext cx="4114800" cy="3154680"/>
          </a:xfrm>
          <a:prstGeom prst="roundRect">
            <a:avLst>
              <a:gd name="adj" fmla="val 2899"/>
            </a:avLst>
          </a:prstGeom>
          <a:solidFill>
            <a:srgbClr val="F5F5F7"/>
          </a:solidFill>
          <a:ln w="12700">
            <a:solidFill>
              <a:srgbClr val="F5F5F7"/>
            </a:solidFill>
            <a:prstDash val="solid"/>
          </a:ln>
        </p:spPr>
      </p:sp>
      <p:sp>
        <p:nvSpPr>
          <p:cNvPr id="5" name="Text 3"/>
          <p:cNvSpPr txBox="1"/>
          <p:nvPr/>
        </p:nvSpPr>
        <p:spPr>
          <a:xfrm>
            <a:off x="502920" y="1874520"/>
            <a:ext cx="3749040" cy="228600"/>
          </a:xfrm>
          <a:prstGeom prst="rect">
            <a:avLst/>
          </a:prstGeom>
          <a:noFill/>
          <a:ln/>
        </p:spPr>
        <p:txBody>
          <a:bodyPr wrap="square" lIns="0" tIns="0" rIns="0" bIns="0" rtlCol="0" anchor="ctr"/>
          <a:lstStyle/>
          <a:p>
            <a:pPr indent="0" marL="0">
              <a:buNone/>
            </a:pPr>
            <a:r>
              <a:rPr lang="en-US" sz="850" dirty="0">
                <a:solidFill>
                  <a:srgbClr val="000000"/>
                </a:solidFill>
                <a:latin typeface="Arial" pitchFamily="34" charset="0"/>
                <a:ea typeface="Arial" pitchFamily="34" charset="-122"/>
                <a:cs typeface="Arial" pitchFamily="34" charset="-120"/>
              </a:rPr>
              <a:t>$1 –  $10 million</a:t>
            </a:r>
            <a:endParaRPr lang="en-US" sz="850" dirty="0"/>
          </a:p>
        </p:txBody>
      </p:sp>
      <p:sp>
        <p:nvSpPr>
          <p:cNvPr id="6" name="Shape 4"/>
          <p:cNvSpPr/>
          <p:nvPr/>
        </p:nvSpPr>
        <p:spPr>
          <a:xfrm>
            <a:off x="548640" y="2756916"/>
            <a:ext cx="182880" cy="182880"/>
          </a:xfrm>
          <a:prstGeom prst="ellipse">
            <a:avLst/>
          </a:prstGeom>
          <a:solidFill>
            <a:srgbClr val="AEAEB2"/>
          </a:solidFill>
          <a:ln w="12700">
            <a:solidFill>
              <a:srgbClr val="AEAEB2"/>
            </a:solidFill>
            <a:prstDash val="solid"/>
          </a:ln>
        </p:spPr>
      </p:sp>
      <p:sp>
        <p:nvSpPr>
          <p:cNvPr id="7" name="Shape 5"/>
          <p:cNvSpPr/>
          <p:nvPr/>
        </p:nvSpPr>
        <p:spPr>
          <a:xfrm>
            <a:off x="941832" y="2756916"/>
            <a:ext cx="182880" cy="182880"/>
          </a:xfrm>
          <a:prstGeom prst="ellipse">
            <a:avLst/>
          </a:prstGeom>
          <a:solidFill>
            <a:srgbClr val="AEAEB2"/>
          </a:solidFill>
          <a:ln w="12700">
            <a:solidFill>
              <a:srgbClr val="AEAEB2"/>
            </a:solidFill>
            <a:prstDash val="solid"/>
          </a:ln>
        </p:spPr>
      </p:sp>
      <p:sp>
        <p:nvSpPr>
          <p:cNvPr id="8" name="Shape 6"/>
          <p:cNvSpPr/>
          <p:nvPr/>
        </p:nvSpPr>
        <p:spPr>
          <a:xfrm>
            <a:off x="1335024" y="2756916"/>
            <a:ext cx="182880" cy="182880"/>
          </a:xfrm>
          <a:prstGeom prst="ellipse">
            <a:avLst/>
          </a:prstGeom>
          <a:solidFill>
            <a:srgbClr val="AEAEB2"/>
          </a:solidFill>
          <a:ln w="12700">
            <a:solidFill>
              <a:srgbClr val="AEAEB2"/>
            </a:solidFill>
            <a:prstDash val="solid"/>
          </a:ln>
        </p:spPr>
      </p:sp>
      <p:sp>
        <p:nvSpPr>
          <p:cNvPr id="9" name="Shape 7"/>
          <p:cNvSpPr/>
          <p:nvPr/>
        </p:nvSpPr>
        <p:spPr>
          <a:xfrm>
            <a:off x="1728216" y="2756916"/>
            <a:ext cx="182880" cy="182880"/>
          </a:xfrm>
          <a:prstGeom prst="ellipse">
            <a:avLst/>
          </a:prstGeom>
          <a:solidFill>
            <a:srgbClr val="AEAEB2"/>
          </a:solidFill>
          <a:ln w="12700">
            <a:solidFill>
              <a:srgbClr val="AEAEB2"/>
            </a:solidFill>
            <a:prstDash val="solid"/>
          </a:ln>
        </p:spPr>
      </p:sp>
      <p:sp>
        <p:nvSpPr>
          <p:cNvPr id="10" name="Shape 8"/>
          <p:cNvSpPr/>
          <p:nvPr/>
        </p:nvSpPr>
        <p:spPr>
          <a:xfrm>
            <a:off x="2121408" y="2756916"/>
            <a:ext cx="182880" cy="182880"/>
          </a:xfrm>
          <a:prstGeom prst="ellipse">
            <a:avLst/>
          </a:prstGeom>
          <a:solidFill>
            <a:srgbClr val="AEAEB2"/>
          </a:solidFill>
          <a:ln w="12700">
            <a:solidFill>
              <a:srgbClr val="AEAEB2"/>
            </a:solidFill>
            <a:prstDash val="solid"/>
          </a:ln>
        </p:spPr>
      </p:sp>
      <p:sp>
        <p:nvSpPr>
          <p:cNvPr id="11" name="Shape 9"/>
          <p:cNvSpPr/>
          <p:nvPr/>
        </p:nvSpPr>
        <p:spPr>
          <a:xfrm>
            <a:off x="2514600" y="2756916"/>
            <a:ext cx="182880" cy="182880"/>
          </a:xfrm>
          <a:prstGeom prst="ellipse">
            <a:avLst/>
          </a:prstGeom>
          <a:solidFill>
            <a:srgbClr val="AEAEB2"/>
          </a:solidFill>
          <a:ln w="12700">
            <a:solidFill>
              <a:srgbClr val="AEAEB2"/>
            </a:solidFill>
            <a:prstDash val="solid"/>
          </a:ln>
        </p:spPr>
      </p:sp>
      <p:sp>
        <p:nvSpPr>
          <p:cNvPr id="12" name="Shape 10"/>
          <p:cNvSpPr/>
          <p:nvPr/>
        </p:nvSpPr>
        <p:spPr>
          <a:xfrm>
            <a:off x="2907792" y="2756916"/>
            <a:ext cx="182880" cy="182880"/>
          </a:xfrm>
          <a:prstGeom prst="ellipse">
            <a:avLst/>
          </a:prstGeom>
          <a:solidFill>
            <a:srgbClr val="AEAEB2"/>
          </a:solidFill>
          <a:ln w="12700">
            <a:solidFill>
              <a:srgbClr val="AEAEB2"/>
            </a:solidFill>
            <a:prstDash val="solid"/>
          </a:ln>
        </p:spPr>
      </p:sp>
      <p:sp>
        <p:nvSpPr>
          <p:cNvPr id="13" name="Shape 11"/>
          <p:cNvSpPr/>
          <p:nvPr/>
        </p:nvSpPr>
        <p:spPr>
          <a:xfrm>
            <a:off x="3300984" y="2756916"/>
            <a:ext cx="182880" cy="182880"/>
          </a:xfrm>
          <a:prstGeom prst="ellipse">
            <a:avLst/>
          </a:prstGeom>
          <a:solidFill>
            <a:srgbClr val="AEAEB2"/>
          </a:solidFill>
          <a:ln w="12700">
            <a:solidFill>
              <a:srgbClr val="AEAEB2"/>
            </a:solidFill>
            <a:prstDash val="solid"/>
          </a:ln>
        </p:spPr>
      </p:sp>
      <p:sp>
        <p:nvSpPr>
          <p:cNvPr id="14" name="Shape 12"/>
          <p:cNvSpPr/>
          <p:nvPr/>
        </p:nvSpPr>
        <p:spPr>
          <a:xfrm>
            <a:off x="3694176" y="2756916"/>
            <a:ext cx="182880" cy="182880"/>
          </a:xfrm>
          <a:prstGeom prst="ellipse">
            <a:avLst/>
          </a:prstGeom>
          <a:solidFill>
            <a:srgbClr val="AEAEB2"/>
          </a:solidFill>
          <a:ln w="12700">
            <a:solidFill>
              <a:srgbClr val="AEAEB2"/>
            </a:solidFill>
            <a:prstDash val="solid"/>
          </a:ln>
        </p:spPr>
      </p:sp>
      <p:sp>
        <p:nvSpPr>
          <p:cNvPr id="15" name="Shape 13"/>
          <p:cNvSpPr/>
          <p:nvPr/>
        </p:nvSpPr>
        <p:spPr>
          <a:xfrm>
            <a:off x="4087368" y="2756916"/>
            <a:ext cx="182880" cy="182880"/>
          </a:xfrm>
          <a:prstGeom prst="ellipse">
            <a:avLst/>
          </a:prstGeom>
          <a:solidFill>
            <a:srgbClr val="AEAEB2"/>
          </a:solidFill>
          <a:ln w="12700">
            <a:solidFill>
              <a:srgbClr val="AEAEB2"/>
            </a:solidFill>
            <a:prstDash val="solid"/>
          </a:ln>
        </p:spPr>
      </p:sp>
      <p:sp>
        <p:nvSpPr>
          <p:cNvPr id="16" name="Shape 14"/>
          <p:cNvSpPr/>
          <p:nvPr/>
        </p:nvSpPr>
        <p:spPr>
          <a:xfrm>
            <a:off x="548640" y="3150108"/>
            <a:ext cx="182880" cy="182880"/>
          </a:xfrm>
          <a:prstGeom prst="ellipse">
            <a:avLst/>
          </a:prstGeom>
          <a:solidFill>
            <a:srgbClr val="AEAEB2"/>
          </a:solidFill>
          <a:ln w="12700">
            <a:solidFill>
              <a:srgbClr val="AEAEB2"/>
            </a:solidFill>
            <a:prstDash val="solid"/>
          </a:ln>
        </p:spPr>
      </p:sp>
      <p:sp>
        <p:nvSpPr>
          <p:cNvPr id="17" name="Shape 15"/>
          <p:cNvSpPr/>
          <p:nvPr/>
        </p:nvSpPr>
        <p:spPr>
          <a:xfrm>
            <a:off x="941832" y="3150108"/>
            <a:ext cx="182880" cy="182880"/>
          </a:xfrm>
          <a:prstGeom prst="ellipse">
            <a:avLst/>
          </a:prstGeom>
          <a:solidFill>
            <a:srgbClr val="AEAEB2"/>
          </a:solidFill>
          <a:ln w="12700">
            <a:solidFill>
              <a:srgbClr val="AEAEB2"/>
            </a:solidFill>
            <a:prstDash val="solid"/>
          </a:ln>
        </p:spPr>
      </p:sp>
      <p:sp>
        <p:nvSpPr>
          <p:cNvPr id="18" name="Shape 16"/>
          <p:cNvSpPr/>
          <p:nvPr/>
        </p:nvSpPr>
        <p:spPr>
          <a:xfrm>
            <a:off x="1335024" y="3150108"/>
            <a:ext cx="182880" cy="182880"/>
          </a:xfrm>
          <a:prstGeom prst="ellipse">
            <a:avLst/>
          </a:prstGeom>
          <a:solidFill>
            <a:srgbClr val="AEAEB2"/>
          </a:solidFill>
          <a:ln w="12700">
            <a:solidFill>
              <a:srgbClr val="AEAEB2"/>
            </a:solidFill>
            <a:prstDash val="solid"/>
          </a:ln>
        </p:spPr>
      </p:sp>
      <p:sp>
        <p:nvSpPr>
          <p:cNvPr id="19" name="Shape 17"/>
          <p:cNvSpPr/>
          <p:nvPr/>
        </p:nvSpPr>
        <p:spPr>
          <a:xfrm>
            <a:off x="1728216" y="3150108"/>
            <a:ext cx="182880" cy="182880"/>
          </a:xfrm>
          <a:prstGeom prst="ellipse">
            <a:avLst/>
          </a:prstGeom>
          <a:solidFill>
            <a:srgbClr val="AEAEB2"/>
          </a:solidFill>
          <a:ln w="12700">
            <a:solidFill>
              <a:srgbClr val="AEAEB2"/>
            </a:solidFill>
            <a:prstDash val="solid"/>
          </a:ln>
        </p:spPr>
      </p:sp>
      <p:sp>
        <p:nvSpPr>
          <p:cNvPr id="20" name="Shape 18"/>
          <p:cNvSpPr/>
          <p:nvPr/>
        </p:nvSpPr>
        <p:spPr>
          <a:xfrm>
            <a:off x="2121408" y="3150108"/>
            <a:ext cx="182880" cy="182880"/>
          </a:xfrm>
          <a:prstGeom prst="ellipse">
            <a:avLst/>
          </a:prstGeom>
          <a:solidFill>
            <a:srgbClr val="AEAEB2"/>
          </a:solidFill>
          <a:ln w="12700">
            <a:solidFill>
              <a:srgbClr val="AEAEB2"/>
            </a:solidFill>
            <a:prstDash val="solid"/>
          </a:ln>
        </p:spPr>
      </p:sp>
      <p:sp>
        <p:nvSpPr>
          <p:cNvPr id="21" name="Shape 19"/>
          <p:cNvSpPr/>
          <p:nvPr/>
        </p:nvSpPr>
        <p:spPr>
          <a:xfrm>
            <a:off x="2514600" y="3150108"/>
            <a:ext cx="182880" cy="182880"/>
          </a:xfrm>
          <a:prstGeom prst="ellipse">
            <a:avLst/>
          </a:prstGeom>
          <a:solidFill>
            <a:srgbClr val="AEAEB2"/>
          </a:solidFill>
          <a:ln w="12700">
            <a:solidFill>
              <a:srgbClr val="AEAEB2"/>
            </a:solidFill>
            <a:prstDash val="solid"/>
          </a:ln>
        </p:spPr>
      </p:sp>
      <p:sp>
        <p:nvSpPr>
          <p:cNvPr id="22" name="Shape 20"/>
          <p:cNvSpPr/>
          <p:nvPr/>
        </p:nvSpPr>
        <p:spPr>
          <a:xfrm>
            <a:off x="2907792" y="3150108"/>
            <a:ext cx="182880" cy="182880"/>
          </a:xfrm>
          <a:prstGeom prst="ellipse">
            <a:avLst/>
          </a:prstGeom>
          <a:solidFill>
            <a:srgbClr val="AEAEB2"/>
          </a:solidFill>
          <a:ln w="12700">
            <a:solidFill>
              <a:srgbClr val="AEAEB2"/>
            </a:solidFill>
            <a:prstDash val="solid"/>
          </a:ln>
        </p:spPr>
      </p:sp>
      <p:sp>
        <p:nvSpPr>
          <p:cNvPr id="23" name="Shape 21"/>
          <p:cNvSpPr/>
          <p:nvPr/>
        </p:nvSpPr>
        <p:spPr>
          <a:xfrm>
            <a:off x="3300984" y="3150108"/>
            <a:ext cx="182880" cy="182880"/>
          </a:xfrm>
          <a:prstGeom prst="ellipse">
            <a:avLst/>
          </a:prstGeom>
          <a:solidFill>
            <a:srgbClr val="AEAEB2"/>
          </a:solidFill>
          <a:ln w="12700">
            <a:solidFill>
              <a:srgbClr val="AEAEB2"/>
            </a:solidFill>
            <a:prstDash val="solid"/>
          </a:ln>
        </p:spPr>
      </p:sp>
      <p:sp>
        <p:nvSpPr>
          <p:cNvPr id="24" name="Shape 22"/>
          <p:cNvSpPr/>
          <p:nvPr/>
        </p:nvSpPr>
        <p:spPr>
          <a:xfrm>
            <a:off x="3694176" y="3150108"/>
            <a:ext cx="182880" cy="182880"/>
          </a:xfrm>
          <a:prstGeom prst="ellipse">
            <a:avLst/>
          </a:prstGeom>
          <a:solidFill>
            <a:srgbClr val="AEAEB2"/>
          </a:solidFill>
          <a:ln w="12700">
            <a:solidFill>
              <a:srgbClr val="AEAEB2"/>
            </a:solidFill>
            <a:prstDash val="solid"/>
          </a:ln>
        </p:spPr>
      </p:sp>
      <p:sp>
        <p:nvSpPr>
          <p:cNvPr id="25" name="Shape 23"/>
          <p:cNvSpPr/>
          <p:nvPr/>
        </p:nvSpPr>
        <p:spPr>
          <a:xfrm>
            <a:off x="4087368" y="3150108"/>
            <a:ext cx="182880" cy="182880"/>
          </a:xfrm>
          <a:prstGeom prst="ellipse">
            <a:avLst/>
          </a:prstGeom>
          <a:solidFill>
            <a:srgbClr val="AEAEB2"/>
          </a:solidFill>
          <a:ln w="12700">
            <a:solidFill>
              <a:srgbClr val="AEAEB2"/>
            </a:solidFill>
            <a:prstDash val="solid"/>
          </a:ln>
        </p:spPr>
      </p:sp>
      <p:sp>
        <p:nvSpPr>
          <p:cNvPr id="26" name="Shape 24"/>
          <p:cNvSpPr/>
          <p:nvPr/>
        </p:nvSpPr>
        <p:spPr>
          <a:xfrm>
            <a:off x="548640" y="3543300"/>
            <a:ext cx="182880" cy="182880"/>
          </a:xfrm>
          <a:prstGeom prst="ellipse">
            <a:avLst/>
          </a:prstGeom>
          <a:solidFill>
            <a:srgbClr val="AEAEB2"/>
          </a:solidFill>
          <a:ln w="12700">
            <a:solidFill>
              <a:srgbClr val="AEAEB2"/>
            </a:solidFill>
            <a:prstDash val="solid"/>
          </a:ln>
        </p:spPr>
      </p:sp>
      <p:sp>
        <p:nvSpPr>
          <p:cNvPr id="27" name="Shape 25"/>
          <p:cNvSpPr/>
          <p:nvPr/>
        </p:nvSpPr>
        <p:spPr>
          <a:xfrm>
            <a:off x="941832" y="3543300"/>
            <a:ext cx="182880" cy="182880"/>
          </a:xfrm>
          <a:prstGeom prst="ellipse">
            <a:avLst/>
          </a:prstGeom>
          <a:solidFill>
            <a:srgbClr val="AEAEB2"/>
          </a:solidFill>
          <a:ln w="12700">
            <a:solidFill>
              <a:srgbClr val="AEAEB2"/>
            </a:solidFill>
            <a:prstDash val="solid"/>
          </a:ln>
        </p:spPr>
      </p:sp>
      <p:sp>
        <p:nvSpPr>
          <p:cNvPr id="28" name="Shape 26"/>
          <p:cNvSpPr/>
          <p:nvPr/>
        </p:nvSpPr>
        <p:spPr>
          <a:xfrm>
            <a:off x="1335024" y="3543300"/>
            <a:ext cx="182880" cy="182880"/>
          </a:xfrm>
          <a:prstGeom prst="ellipse">
            <a:avLst/>
          </a:prstGeom>
          <a:solidFill>
            <a:srgbClr val="AEAEB2"/>
          </a:solidFill>
          <a:ln w="12700">
            <a:solidFill>
              <a:srgbClr val="AEAEB2"/>
            </a:solidFill>
            <a:prstDash val="solid"/>
          </a:ln>
        </p:spPr>
      </p:sp>
      <p:sp>
        <p:nvSpPr>
          <p:cNvPr id="29" name="Shape 27"/>
          <p:cNvSpPr/>
          <p:nvPr/>
        </p:nvSpPr>
        <p:spPr>
          <a:xfrm>
            <a:off x="1728216" y="3543300"/>
            <a:ext cx="182880" cy="182880"/>
          </a:xfrm>
          <a:prstGeom prst="ellipse">
            <a:avLst/>
          </a:prstGeom>
          <a:solidFill>
            <a:srgbClr val="AEAEB2"/>
          </a:solidFill>
          <a:ln w="12700">
            <a:solidFill>
              <a:srgbClr val="AEAEB2"/>
            </a:solidFill>
            <a:prstDash val="solid"/>
          </a:ln>
        </p:spPr>
      </p:sp>
      <p:sp>
        <p:nvSpPr>
          <p:cNvPr id="30" name="Shape 28"/>
          <p:cNvSpPr/>
          <p:nvPr/>
        </p:nvSpPr>
        <p:spPr>
          <a:xfrm>
            <a:off x="2121408" y="3543300"/>
            <a:ext cx="182880" cy="182880"/>
          </a:xfrm>
          <a:prstGeom prst="ellipse">
            <a:avLst/>
          </a:prstGeom>
          <a:solidFill>
            <a:srgbClr val="AEAEB2"/>
          </a:solidFill>
          <a:ln w="12700">
            <a:solidFill>
              <a:srgbClr val="AEAEB2"/>
            </a:solidFill>
            <a:prstDash val="solid"/>
          </a:ln>
        </p:spPr>
      </p:sp>
      <p:sp>
        <p:nvSpPr>
          <p:cNvPr id="31" name="Shape 29"/>
          <p:cNvSpPr/>
          <p:nvPr/>
        </p:nvSpPr>
        <p:spPr>
          <a:xfrm>
            <a:off x="2514600" y="3543300"/>
            <a:ext cx="182880" cy="182880"/>
          </a:xfrm>
          <a:prstGeom prst="ellipse">
            <a:avLst/>
          </a:prstGeom>
          <a:solidFill>
            <a:srgbClr val="AEAEB2"/>
          </a:solidFill>
          <a:ln w="12700">
            <a:solidFill>
              <a:srgbClr val="AEAEB2"/>
            </a:solidFill>
            <a:prstDash val="solid"/>
          </a:ln>
        </p:spPr>
      </p:sp>
      <p:sp>
        <p:nvSpPr>
          <p:cNvPr id="32" name="Shape 30"/>
          <p:cNvSpPr/>
          <p:nvPr/>
        </p:nvSpPr>
        <p:spPr>
          <a:xfrm>
            <a:off x="2907792" y="3543300"/>
            <a:ext cx="182880" cy="182880"/>
          </a:xfrm>
          <a:prstGeom prst="ellipse">
            <a:avLst/>
          </a:prstGeom>
          <a:solidFill>
            <a:srgbClr val="AEAEB2"/>
          </a:solidFill>
          <a:ln w="12700">
            <a:solidFill>
              <a:srgbClr val="AEAEB2"/>
            </a:solidFill>
            <a:prstDash val="solid"/>
          </a:ln>
        </p:spPr>
      </p:sp>
      <p:sp>
        <p:nvSpPr>
          <p:cNvPr id="33" name="Shape 31"/>
          <p:cNvSpPr/>
          <p:nvPr/>
        </p:nvSpPr>
        <p:spPr>
          <a:xfrm>
            <a:off x="3300984" y="3543300"/>
            <a:ext cx="182880" cy="182880"/>
          </a:xfrm>
          <a:prstGeom prst="ellipse">
            <a:avLst/>
          </a:prstGeom>
          <a:solidFill>
            <a:srgbClr val="AEAEB2"/>
          </a:solidFill>
          <a:ln w="12700">
            <a:solidFill>
              <a:srgbClr val="AEAEB2"/>
            </a:solidFill>
            <a:prstDash val="solid"/>
          </a:ln>
        </p:spPr>
      </p:sp>
      <p:sp>
        <p:nvSpPr>
          <p:cNvPr id="34" name="Shape 32"/>
          <p:cNvSpPr/>
          <p:nvPr/>
        </p:nvSpPr>
        <p:spPr>
          <a:xfrm>
            <a:off x="3694176" y="3543300"/>
            <a:ext cx="182880" cy="182880"/>
          </a:xfrm>
          <a:prstGeom prst="ellipse">
            <a:avLst/>
          </a:prstGeom>
          <a:solidFill>
            <a:srgbClr val="AEAEB2"/>
          </a:solidFill>
          <a:ln w="12700">
            <a:solidFill>
              <a:srgbClr val="AEAEB2"/>
            </a:solidFill>
            <a:prstDash val="solid"/>
          </a:ln>
        </p:spPr>
      </p:sp>
      <p:sp>
        <p:nvSpPr>
          <p:cNvPr id="35" name="Shape 33"/>
          <p:cNvSpPr/>
          <p:nvPr/>
        </p:nvSpPr>
        <p:spPr>
          <a:xfrm>
            <a:off x="4087368" y="3543300"/>
            <a:ext cx="182880" cy="182880"/>
          </a:xfrm>
          <a:prstGeom prst="ellipse">
            <a:avLst/>
          </a:prstGeom>
          <a:solidFill>
            <a:srgbClr val="AEAEB2"/>
          </a:solidFill>
          <a:ln w="12700">
            <a:solidFill>
              <a:srgbClr val="AEAEB2"/>
            </a:solidFill>
            <a:prstDash val="solid"/>
          </a:ln>
        </p:spPr>
      </p:sp>
      <p:sp>
        <p:nvSpPr>
          <p:cNvPr id="36" name="Shape 34"/>
          <p:cNvSpPr/>
          <p:nvPr/>
        </p:nvSpPr>
        <p:spPr>
          <a:xfrm>
            <a:off x="548640" y="3936492"/>
            <a:ext cx="182880" cy="182880"/>
          </a:xfrm>
          <a:prstGeom prst="ellipse">
            <a:avLst/>
          </a:prstGeom>
          <a:solidFill>
            <a:srgbClr val="AEAEB2"/>
          </a:solidFill>
          <a:ln w="12700">
            <a:solidFill>
              <a:srgbClr val="AEAEB2"/>
            </a:solidFill>
            <a:prstDash val="solid"/>
          </a:ln>
        </p:spPr>
      </p:sp>
      <p:sp>
        <p:nvSpPr>
          <p:cNvPr id="37" name="Shape 35"/>
          <p:cNvSpPr/>
          <p:nvPr/>
        </p:nvSpPr>
        <p:spPr>
          <a:xfrm>
            <a:off x="941832" y="3936492"/>
            <a:ext cx="182880" cy="182880"/>
          </a:xfrm>
          <a:prstGeom prst="ellipse">
            <a:avLst/>
          </a:prstGeom>
          <a:solidFill>
            <a:srgbClr val="AEAEB2"/>
          </a:solidFill>
          <a:ln w="12700">
            <a:solidFill>
              <a:srgbClr val="AEAEB2"/>
            </a:solidFill>
            <a:prstDash val="solid"/>
          </a:ln>
        </p:spPr>
      </p:sp>
      <p:sp>
        <p:nvSpPr>
          <p:cNvPr id="38" name="Shape 36"/>
          <p:cNvSpPr/>
          <p:nvPr/>
        </p:nvSpPr>
        <p:spPr>
          <a:xfrm>
            <a:off x="1335024" y="3936492"/>
            <a:ext cx="182880" cy="182880"/>
          </a:xfrm>
          <a:prstGeom prst="ellipse">
            <a:avLst/>
          </a:prstGeom>
          <a:solidFill>
            <a:srgbClr val="AEAEB2"/>
          </a:solidFill>
          <a:ln w="12700">
            <a:solidFill>
              <a:srgbClr val="AEAEB2"/>
            </a:solidFill>
            <a:prstDash val="solid"/>
          </a:ln>
        </p:spPr>
      </p:sp>
      <p:sp>
        <p:nvSpPr>
          <p:cNvPr id="39" name="Shape 37"/>
          <p:cNvSpPr/>
          <p:nvPr/>
        </p:nvSpPr>
        <p:spPr>
          <a:xfrm>
            <a:off x="1728216" y="3936492"/>
            <a:ext cx="182880" cy="182880"/>
          </a:xfrm>
          <a:prstGeom prst="ellipse">
            <a:avLst/>
          </a:prstGeom>
          <a:solidFill>
            <a:srgbClr val="AEAEB2"/>
          </a:solidFill>
          <a:ln w="12700">
            <a:solidFill>
              <a:srgbClr val="AEAEB2"/>
            </a:solidFill>
            <a:prstDash val="solid"/>
          </a:ln>
        </p:spPr>
      </p:sp>
      <p:sp>
        <p:nvSpPr>
          <p:cNvPr id="40" name="Shape 38"/>
          <p:cNvSpPr/>
          <p:nvPr/>
        </p:nvSpPr>
        <p:spPr>
          <a:xfrm>
            <a:off x="2121408" y="3936492"/>
            <a:ext cx="182880" cy="182880"/>
          </a:xfrm>
          <a:prstGeom prst="ellipse">
            <a:avLst/>
          </a:prstGeom>
          <a:solidFill>
            <a:srgbClr val="AEAEB2"/>
          </a:solidFill>
          <a:ln w="12700">
            <a:solidFill>
              <a:srgbClr val="AEAEB2"/>
            </a:solidFill>
            <a:prstDash val="solid"/>
          </a:ln>
        </p:spPr>
      </p:sp>
      <p:sp>
        <p:nvSpPr>
          <p:cNvPr id="41" name="Shape 39"/>
          <p:cNvSpPr/>
          <p:nvPr/>
        </p:nvSpPr>
        <p:spPr>
          <a:xfrm>
            <a:off x="2514600" y="3936492"/>
            <a:ext cx="182880" cy="182880"/>
          </a:xfrm>
          <a:prstGeom prst="ellipse">
            <a:avLst/>
          </a:prstGeom>
          <a:solidFill>
            <a:srgbClr val="AEAEB2"/>
          </a:solidFill>
          <a:ln w="12700">
            <a:solidFill>
              <a:srgbClr val="AEAEB2"/>
            </a:solidFill>
            <a:prstDash val="solid"/>
          </a:ln>
        </p:spPr>
      </p:sp>
      <p:sp>
        <p:nvSpPr>
          <p:cNvPr id="42" name="Shape 40"/>
          <p:cNvSpPr/>
          <p:nvPr/>
        </p:nvSpPr>
        <p:spPr>
          <a:xfrm>
            <a:off x="2907792" y="3936492"/>
            <a:ext cx="182880" cy="182880"/>
          </a:xfrm>
          <a:prstGeom prst="ellipse">
            <a:avLst/>
          </a:prstGeom>
          <a:solidFill>
            <a:srgbClr val="AEAEB2"/>
          </a:solidFill>
          <a:ln w="12700">
            <a:solidFill>
              <a:srgbClr val="AEAEB2"/>
            </a:solidFill>
            <a:prstDash val="solid"/>
          </a:ln>
        </p:spPr>
      </p:sp>
      <p:sp>
        <p:nvSpPr>
          <p:cNvPr id="43" name="Shape 41"/>
          <p:cNvSpPr/>
          <p:nvPr/>
        </p:nvSpPr>
        <p:spPr>
          <a:xfrm>
            <a:off x="3300984" y="3936492"/>
            <a:ext cx="182880" cy="182880"/>
          </a:xfrm>
          <a:prstGeom prst="ellipse">
            <a:avLst/>
          </a:prstGeom>
          <a:solidFill>
            <a:srgbClr val="AEAEB2"/>
          </a:solidFill>
          <a:ln w="12700">
            <a:solidFill>
              <a:srgbClr val="AEAEB2"/>
            </a:solidFill>
            <a:prstDash val="solid"/>
          </a:ln>
        </p:spPr>
      </p:sp>
      <p:sp>
        <p:nvSpPr>
          <p:cNvPr id="44" name="Shape 42"/>
          <p:cNvSpPr/>
          <p:nvPr/>
        </p:nvSpPr>
        <p:spPr>
          <a:xfrm>
            <a:off x="3694176" y="3936492"/>
            <a:ext cx="182880" cy="182880"/>
          </a:xfrm>
          <a:prstGeom prst="ellipse">
            <a:avLst/>
          </a:prstGeom>
          <a:solidFill>
            <a:srgbClr val="AEAEB2"/>
          </a:solidFill>
          <a:ln w="12700">
            <a:solidFill>
              <a:srgbClr val="AEAEB2"/>
            </a:solidFill>
            <a:prstDash val="solid"/>
          </a:ln>
        </p:spPr>
      </p:sp>
      <p:sp>
        <p:nvSpPr>
          <p:cNvPr id="45" name="Shape 43"/>
          <p:cNvSpPr/>
          <p:nvPr/>
        </p:nvSpPr>
        <p:spPr>
          <a:xfrm>
            <a:off x="4087368" y="3936492"/>
            <a:ext cx="182880" cy="182880"/>
          </a:xfrm>
          <a:prstGeom prst="ellipse">
            <a:avLst/>
          </a:prstGeom>
          <a:solidFill>
            <a:srgbClr val="AEAEB2"/>
          </a:solidFill>
          <a:ln w="12700">
            <a:solidFill>
              <a:srgbClr val="AEAEB2"/>
            </a:solidFill>
            <a:prstDash val="solid"/>
          </a:ln>
        </p:spPr>
      </p:sp>
      <p:sp>
        <p:nvSpPr>
          <p:cNvPr id="46" name="Shape 44"/>
          <p:cNvSpPr/>
          <p:nvPr/>
        </p:nvSpPr>
        <p:spPr>
          <a:xfrm>
            <a:off x="548640" y="4329684"/>
            <a:ext cx="182880" cy="182880"/>
          </a:xfrm>
          <a:prstGeom prst="ellipse">
            <a:avLst/>
          </a:prstGeom>
          <a:solidFill>
            <a:srgbClr val="AEAEB2"/>
          </a:solidFill>
          <a:ln w="12700">
            <a:solidFill>
              <a:srgbClr val="AEAEB2"/>
            </a:solidFill>
            <a:prstDash val="solid"/>
          </a:ln>
        </p:spPr>
      </p:sp>
      <p:sp>
        <p:nvSpPr>
          <p:cNvPr id="47" name="Shape 45"/>
          <p:cNvSpPr/>
          <p:nvPr/>
        </p:nvSpPr>
        <p:spPr>
          <a:xfrm>
            <a:off x="941832" y="4329684"/>
            <a:ext cx="182880" cy="182880"/>
          </a:xfrm>
          <a:prstGeom prst="ellipse">
            <a:avLst/>
          </a:prstGeom>
          <a:solidFill>
            <a:srgbClr val="AEAEB2"/>
          </a:solidFill>
          <a:ln w="12700">
            <a:solidFill>
              <a:srgbClr val="AEAEB2"/>
            </a:solidFill>
            <a:prstDash val="solid"/>
          </a:ln>
        </p:spPr>
      </p:sp>
      <p:sp>
        <p:nvSpPr>
          <p:cNvPr id="48" name="Shape 46"/>
          <p:cNvSpPr/>
          <p:nvPr/>
        </p:nvSpPr>
        <p:spPr>
          <a:xfrm>
            <a:off x="1335024" y="4329684"/>
            <a:ext cx="182880" cy="182880"/>
          </a:xfrm>
          <a:prstGeom prst="ellipse">
            <a:avLst/>
          </a:prstGeom>
          <a:solidFill>
            <a:srgbClr val="AEAEB2"/>
          </a:solidFill>
          <a:ln w="12700">
            <a:solidFill>
              <a:srgbClr val="AEAEB2"/>
            </a:solidFill>
            <a:prstDash val="solid"/>
          </a:ln>
        </p:spPr>
      </p:sp>
      <p:sp>
        <p:nvSpPr>
          <p:cNvPr id="49" name="Shape 47"/>
          <p:cNvSpPr/>
          <p:nvPr/>
        </p:nvSpPr>
        <p:spPr>
          <a:xfrm>
            <a:off x="1728216" y="4329684"/>
            <a:ext cx="182880" cy="182880"/>
          </a:xfrm>
          <a:prstGeom prst="ellipse">
            <a:avLst/>
          </a:prstGeom>
          <a:solidFill>
            <a:srgbClr val="AEAEB2"/>
          </a:solidFill>
          <a:ln w="12700">
            <a:solidFill>
              <a:srgbClr val="AEAEB2"/>
            </a:solidFill>
            <a:prstDash val="solid"/>
          </a:ln>
        </p:spPr>
      </p:sp>
      <p:sp>
        <p:nvSpPr>
          <p:cNvPr id="50" name="Shape 48"/>
          <p:cNvSpPr/>
          <p:nvPr/>
        </p:nvSpPr>
        <p:spPr>
          <a:xfrm>
            <a:off x="2121408" y="4329684"/>
            <a:ext cx="182880" cy="182880"/>
          </a:xfrm>
          <a:prstGeom prst="ellipse">
            <a:avLst/>
          </a:prstGeom>
          <a:solidFill>
            <a:srgbClr val="AEAEB2"/>
          </a:solidFill>
          <a:ln w="12700">
            <a:solidFill>
              <a:srgbClr val="AEAEB2"/>
            </a:solidFill>
            <a:prstDash val="solid"/>
          </a:ln>
        </p:spPr>
      </p:sp>
      <p:sp>
        <p:nvSpPr>
          <p:cNvPr id="51" name="Shape 49"/>
          <p:cNvSpPr/>
          <p:nvPr/>
        </p:nvSpPr>
        <p:spPr>
          <a:xfrm>
            <a:off x="2514600" y="4329684"/>
            <a:ext cx="182880" cy="182880"/>
          </a:xfrm>
          <a:prstGeom prst="ellipse">
            <a:avLst/>
          </a:prstGeom>
          <a:solidFill>
            <a:srgbClr val="AEAEB2"/>
          </a:solidFill>
          <a:ln w="12700">
            <a:solidFill>
              <a:srgbClr val="AEAEB2"/>
            </a:solidFill>
            <a:prstDash val="solid"/>
          </a:ln>
        </p:spPr>
      </p:sp>
      <p:sp>
        <p:nvSpPr>
          <p:cNvPr id="52" name="Shape 50"/>
          <p:cNvSpPr/>
          <p:nvPr/>
        </p:nvSpPr>
        <p:spPr>
          <a:xfrm>
            <a:off x="2907792" y="4329684"/>
            <a:ext cx="182880" cy="182880"/>
          </a:xfrm>
          <a:prstGeom prst="ellipse">
            <a:avLst/>
          </a:prstGeom>
          <a:solidFill>
            <a:srgbClr val="AEAEB2"/>
          </a:solidFill>
          <a:ln w="12700">
            <a:solidFill>
              <a:srgbClr val="AEAEB2"/>
            </a:solidFill>
            <a:prstDash val="solid"/>
          </a:ln>
        </p:spPr>
      </p:sp>
      <p:sp>
        <p:nvSpPr>
          <p:cNvPr id="53" name="Shape 51"/>
          <p:cNvSpPr/>
          <p:nvPr/>
        </p:nvSpPr>
        <p:spPr>
          <a:xfrm>
            <a:off x="3300984" y="4329684"/>
            <a:ext cx="182880" cy="182880"/>
          </a:xfrm>
          <a:prstGeom prst="ellipse">
            <a:avLst/>
          </a:prstGeom>
          <a:solidFill>
            <a:srgbClr val="AEAEB2"/>
          </a:solidFill>
          <a:ln w="12700">
            <a:solidFill>
              <a:srgbClr val="AEAEB2"/>
            </a:solidFill>
            <a:prstDash val="solid"/>
          </a:ln>
        </p:spPr>
      </p:sp>
      <p:sp>
        <p:nvSpPr>
          <p:cNvPr id="54" name="Shape 52"/>
          <p:cNvSpPr/>
          <p:nvPr/>
        </p:nvSpPr>
        <p:spPr>
          <a:xfrm>
            <a:off x="3694176" y="4329684"/>
            <a:ext cx="182880" cy="182880"/>
          </a:xfrm>
          <a:prstGeom prst="ellipse">
            <a:avLst/>
          </a:prstGeom>
          <a:solidFill>
            <a:srgbClr val="AEAEB2"/>
          </a:solidFill>
          <a:ln w="12700">
            <a:solidFill>
              <a:srgbClr val="AEAEB2"/>
            </a:solidFill>
            <a:prstDash val="solid"/>
          </a:ln>
        </p:spPr>
      </p:sp>
      <p:sp>
        <p:nvSpPr>
          <p:cNvPr id="55" name="Shape 53"/>
          <p:cNvSpPr/>
          <p:nvPr/>
        </p:nvSpPr>
        <p:spPr>
          <a:xfrm>
            <a:off x="4087368" y="4329684"/>
            <a:ext cx="182880" cy="182880"/>
          </a:xfrm>
          <a:prstGeom prst="ellipse">
            <a:avLst/>
          </a:prstGeom>
          <a:solidFill>
            <a:srgbClr val="AEAEB2"/>
          </a:solidFill>
          <a:ln w="12700">
            <a:solidFill>
              <a:srgbClr val="AEAEB2"/>
            </a:solidFill>
            <a:prstDash val="solid"/>
          </a:ln>
        </p:spPr>
      </p:sp>
      <p:sp>
        <p:nvSpPr>
          <p:cNvPr id="56" name="Shape 54"/>
          <p:cNvSpPr/>
          <p:nvPr/>
        </p:nvSpPr>
        <p:spPr>
          <a:xfrm>
            <a:off x="4709160" y="1737360"/>
            <a:ext cx="4114800" cy="3154680"/>
          </a:xfrm>
          <a:prstGeom prst="roundRect">
            <a:avLst>
              <a:gd name="adj" fmla="val 2899"/>
            </a:avLst>
          </a:prstGeom>
          <a:solidFill>
            <a:srgbClr val="F5F5F7"/>
          </a:solidFill>
          <a:ln w="12700">
            <a:solidFill>
              <a:srgbClr val="F5F5F7"/>
            </a:solidFill>
            <a:prstDash val="solid"/>
          </a:ln>
        </p:spPr>
      </p:sp>
      <p:sp>
        <p:nvSpPr>
          <p:cNvPr id="57" name="Text 55"/>
          <p:cNvSpPr txBox="1"/>
          <p:nvPr/>
        </p:nvSpPr>
        <p:spPr>
          <a:xfrm>
            <a:off x="4892040" y="1874520"/>
            <a:ext cx="3749040" cy="228600"/>
          </a:xfrm>
          <a:prstGeom prst="rect">
            <a:avLst/>
          </a:prstGeom>
          <a:noFill/>
          <a:ln/>
        </p:spPr>
        <p:txBody>
          <a:bodyPr wrap="square" lIns="0" tIns="0" rIns="0" bIns="0" rtlCol="0" anchor="ctr"/>
          <a:lstStyle/>
          <a:p>
            <a:pPr indent="0" marL="0">
              <a:buNone/>
            </a:pPr>
            <a:r>
              <a:rPr lang="en-US" sz="850" dirty="0">
                <a:solidFill>
                  <a:srgbClr val="000000"/>
                </a:solidFill>
                <a:latin typeface="Arial" pitchFamily="34" charset="0"/>
                <a:ea typeface="Arial" pitchFamily="34" charset="-122"/>
                <a:cs typeface="Arial" pitchFamily="34" charset="-120"/>
              </a:rPr>
              <a:t>$10 –  $100 million</a:t>
            </a:r>
            <a:endParaRPr lang="en-US" sz="850" dirty="0"/>
          </a:p>
        </p:txBody>
      </p:sp>
      <p:sp>
        <p:nvSpPr>
          <p:cNvPr id="58" name="Shape 56"/>
          <p:cNvSpPr/>
          <p:nvPr/>
        </p:nvSpPr>
        <p:spPr>
          <a:xfrm>
            <a:off x="4937760" y="3543300"/>
            <a:ext cx="182880" cy="182880"/>
          </a:xfrm>
          <a:prstGeom prst="ellipse">
            <a:avLst/>
          </a:prstGeom>
          <a:solidFill>
            <a:srgbClr val="AEAEB2"/>
          </a:solidFill>
          <a:ln w="12700">
            <a:solidFill>
              <a:srgbClr val="AEAEB2"/>
            </a:solidFill>
            <a:prstDash val="solid"/>
          </a:ln>
        </p:spPr>
      </p:sp>
      <p:sp>
        <p:nvSpPr>
          <p:cNvPr id="59" name="Shape 57"/>
          <p:cNvSpPr/>
          <p:nvPr/>
        </p:nvSpPr>
        <p:spPr>
          <a:xfrm>
            <a:off x="5330952" y="3543300"/>
            <a:ext cx="182880" cy="182880"/>
          </a:xfrm>
          <a:prstGeom prst="ellipse">
            <a:avLst/>
          </a:prstGeom>
          <a:solidFill>
            <a:srgbClr val="AEAEB2"/>
          </a:solidFill>
          <a:ln w="12700">
            <a:solidFill>
              <a:srgbClr val="AEAEB2"/>
            </a:solidFill>
            <a:prstDash val="solid"/>
          </a:ln>
        </p:spPr>
      </p:sp>
      <p:sp>
        <p:nvSpPr>
          <p:cNvPr id="60" name="Shape 58"/>
          <p:cNvSpPr/>
          <p:nvPr/>
        </p:nvSpPr>
        <p:spPr>
          <a:xfrm>
            <a:off x="5724144" y="3543300"/>
            <a:ext cx="182880" cy="182880"/>
          </a:xfrm>
          <a:prstGeom prst="ellipse">
            <a:avLst/>
          </a:prstGeom>
          <a:solidFill>
            <a:srgbClr val="AEAEB2"/>
          </a:solidFill>
          <a:ln w="12700">
            <a:solidFill>
              <a:srgbClr val="AEAEB2"/>
            </a:solidFill>
            <a:prstDash val="solid"/>
          </a:ln>
        </p:spPr>
      </p:sp>
      <p:sp>
        <p:nvSpPr>
          <p:cNvPr id="61" name="Shape 59"/>
          <p:cNvSpPr/>
          <p:nvPr/>
        </p:nvSpPr>
        <p:spPr>
          <a:xfrm>
            <a:off x="6117336" y="3543300"/>
            <a:ext cx="182880" cy="182880"/>
          </a:xfrm>
          <a:prstGeom prst="ellipse">
            <a:avLst/>
          </a:prstGeom>
          <a:solidFill>
            <a:srgbClr val="AEAEB2"/>
          </a:solidFill>
          <a:ln w="12700">
            <a:solidFill>
              <a:srgbClr val="AEAEB2"/>
            </a:solidFill>
            <a:prstDash val="solid"/>
          </a:ln>
        </p:spPr>
      </p:sp>
      <p:sp>
        <p:nvSpPr>
          <p:cNvPr id="62" name="Shape 60"/>
          <p:cNvSpPr/>
          <p:nvPr/>
        </p:nvSpPr>
        <p:spPr>
          <a:xfrm>
            <a:off x="6510528" y="3543300"/>
            <a:ext cx="182880" cy="182880"/>
          </a:xfrm>
          <a:prstGeom prst="ellipse">
            <a:avLst/>
          </a:prstGeom>
          <a:solidFill>
            <a:srgbClr val="AEAEB2"/>
          </a:solidFill>
          <a:ln w="12700">
            <a:solidFill>
              <a:srgbClr val="AEAEB2"/>
            </a:solidFill>
            <a:prstDash val="solid"/>
          </a:ln>
        </p:spPr>
      </p:sp>
      <p:sp>
        <p:nvSpPr>
          <p:cNvPr id="63" name="Shape 61"/>
          <p:cNvSpPr/>
          <p:nvPr/>
        </p:nvSpPr>
        <p:spPr>
          <a:xfrm>
            <a:off x="6903720" y="3543300"/>
            <a:ext cx="182880" cy="182880"/>
          </a:xfrm>
          <a:prstGeom prst="ellipse">
            <a:avLst/>
          </a:prstGeom>
          <a:solidFill>
            <a:srgbClr val="AEAEB2"/>
          </a:solidFill>
          <a:ln w="12700">
            <a:solidFill>
              <a:srgbClr val="AEAEB2"/>
            </a:solidFill>
            <a:prstDash val="solid"/>
          </a:ln>
        </p:spPr>
      </p:sp>
      <p:sp>
        <p:nvSpPr>
          <p:cNvPr id="64" name="Shape 62"/>
          <p:cNvSpPr/>
          <p:nvPr/>
        </p:nvSpPr>
        <p:spPr>
          <a:xfrm>
            <a:off x="7296912" y="3543300"/>
            <a:ext cx="182880" cy="182880"/>
          </a:xfrm>
          <a:prstGeom prst="ellipse">
            <a:avLst/>
          </a:prstGeom>
          <a:solidFill>
            <a:srgbClr val="AEAEB2"/>
          </a:solidFill>
          <a:ln w="12700">
            <a:solidFill>
              <a:srgbClr val="AEAEB2"/>
            </a:solidFill>
            <a:prstDash val="solid"/>
          </a:ln>
        </p:spPr>
      </p:sp>
      <p:sp>
        <p:nvSpPr>
          <p:cNvPr id="65" name="Shape 63"/>
          <p:cNvSpPr/>
          <p:nvPr/>
        </p:nvSpPr>
        <p:spPr>
          <a:xfrm>
            <a:off x="7690104" y="3543300"/>
            <a:ext cx="182880" cy="182880"/>
          </a:xfrm>
          <a:prstGeom prst="ellipse">
            <a:avLst/>
          </a:prstGeom>
          <a:solidFill>
            <a:srgbClr val="AEAEB2"/>
          </a:solidFill>
          <a:ln w="12700">
            <a:solidFill>
              <a:srgbClr val="AEAEB2"/>
            </a:solidFill>
            <a:prstDash val="solid"/>
          </a:ln>
        </p:spPr>
      </p:sp>
      <p:sp>
        <p:nvSpPr>
          <p:cNvPr id="66" name="Shape 64"/>
          <p:cNvSpPr/>
          <p:nvPr/>
        </p:nvSpPr>
        <p:spPr>
          <a:xfrm>
            <a:off x="4937760" y="3936492"/>
            <a:ext cx="182880" cy="182880"/>
          </a:xfrm>
          <a:prstGeom prst="ellipse">
            <a:avLst/>
          </a:prstGeom>
          <a:solidFill>
            <a:srgbClr val="AEAEB2"/>
          </a:solidFill>
          <a:ln w="12700">
            <a:solidFill>
              <a:srgbClr val="AEAEB2"/>
            </a:solidFill>
            <a:prstDash val="solid"/>
          </a:ln>
        </p:spPr>
      </p:sp>
      <p:sp>
        <p:nvSpPr>
          <p:cNvPr id="67" name="Shape 65"/>
          <p:cNvSpPr/>
          <p:nvPr/>
        </p:nvSpPr>
        <p:spPr>
          <a:xfrm>
            <a:off x="5330952" y="3936492"/>
            <a:ext cx="182880" cy="182880"/>
          </a:xfrm>
          <a:prstGeom prst="ellipse">
            <a:avLst/>
          </a:prstGeom>
          <a:solidFill>
            <a:srgbClr val="AEAEB2"/>
          </a:solidFill>
          <a:ln w="12700">
            <a:solidFill>
              <a:srgbClr val="AEAEB2"/>
            </a:solidFill>
            <a:prstDash val="solid"/>
          </a:ln>
        </p:spPr>
      </p:sp>
      <p:sp>
        <p:nvSpPr>
          <p:cNvPr id="68" name="Shape 66"/>
          <p:cNvSpPr/>
          <p:nvPr/>
        </p:nvSpPr>
        <p:spPr>
          <a:xfrm>
            <a:off x="5724144" y="3936492"/>
            <a:ext cx="182880" cy="182880"/>
          </a:xfrm>
          <a:prstGeom prst="ellipse">
            <a:avLst/>
          </a:prstGeom>
          <a:solidFill>
            <a:srgbClr val="AEAEB2"/>
          </a:solidFill>
          <a:ln w="12700">
            <a:solidFill>
              <a:srgbClr val="AEAEB2"/>
            </a:solidFill>
            <a:prstDash val="solid"/>
          </a:ln>
        </p:spPr>
      </p:sp>
      <p:sp>
        <p:nvSpPr>
          <p:cNvPr id="69" name="Shape 67"/>
          <p:cNvSpPr/>
          <p:nvPr/>
        </p:nvSpPr>
        <p:spPr>
          <a:xfrm>
            <a:off x="6117336" y="3936492"/>
            <a:ext cx="182880" cy="182880"/>
          </a:xfrm>
          <a:prstGeom prst="ellipse">
            <a:avLst/>
          </a:prstGeom>
          <a:solidFill>
            <a:srgbClr val="AEAEB2"/>
          </a:solidFill>
          <a:ln w="12700">
            <a:solidFill>
              <a:srgbClr val="AEAEB2"/>
            </a:solidFill>
            <a:prstDash val="solid"/>
          </a:ln>
        </p:spPr>
      </p:sp>
      <p:sp>
        <p:nvSpPr>
          <p:cNvPr id="70" name="Shape 68"/>
          <p:cNvSpPr/>
          <p:nvPr/>
        </p:nvSpPr>
        <p:spPr>
          <a:xfrm>
            <a:off x="6510528" y="3936492"/>
            <a:ext cx="182880" cy="182880"/>
          </a:xfrm>
          <a:prstGeom prst="ellipse">
            <a:avLst/>
          </a:prstGeom>
          <a:solidFill>
            <a:srgbClr val="AEAEB2"/>
          </a:solidFill>
          <a:ln w="12700">
            <a:solidFill>
              <a:srgbClr val="AEAEB2"/>
            </a:solidFill>
            <a:prstDash val="solid"/>
          </a:ln>
        </p:spPr>
      </p:sp>
      <p:sp>
        <p:nvSpPr>
          <p:cNvPr id="71" name="Shape 69"/>
          <p:cNvSpPr/>
          <p:nvPr/>
        </p:nvSpPr>
        <p:spPr>
          <a:xfrm>
            <a:off x="6903720" y="3936492"/>
            <a:ext cx="182880" cy="182880"/>
          </a:xfrm>
          <a:prstGeom prst="ellipse">
            <a:avLst/>
          </a:prstGeom>
          <a:solidFill>
            <a:srgbClr val="AEAEB2"/>
          </a:solidFill>
          <a:ln w="12700">
            <a:solidFill>
              <a:srgbClr val="AEAEB2"/>
            </a:solidFill>
            <a:prstDash val="solid"/>
          </a:ln>
        </p:spPr>
      </p:sp>
      <p:sp>
        <p:nvSpPr>
          <p:cNvPr id="72" name="Shape 70"/>
          <p:cNvSpPr/>
          <p:nvPr/>
        </p:nvSpPr>
        <p:spPr>
          <a:xfrm>
            <a:off x="7296912" y="3936492"/>
            <a:ext cx="182880" cy="182880"/>
          </a:xfrm>
          <a:prstGeom prst="ellipse">
            <a:avLst/>
          </a:prstGeom>
          <a:solidFill>
            <a:srgbClr val="AEAEB2"/>
          </a:solidFill>
          <a:ln w="12700">
            <a:solidFill>
              <a:srgbClr val="AEAEB2"/>
            </a:solidFill>
            <a:prstDash val="solid"/>
          </a:ln>
        </p:spPr>
      </p:sp>
      <p:sp>
        <p:nvSpPr>
          <p:cNvPr id="73" name="Shape 71"/>
          <p:cNvSpPr/>
          <p:nvPr/>
        </p:nvSpPr>
        <p:spPr>
          <a:xfrm>
            <a:off x="7690104" y="3936492"/>
            <a:ext cx="182880" cy="182880"/>
          </a:xfrm>
          <a:prstGeom prst="ellipse">
            <a:avLst/>
          </a:prstGeom>
          <a:solidFill>
            <a:srgbClr val="AEAEB2"/>
          </a:solidFill>
          <a:ln w="12700">
            <a:solidFill>
              <a:srgbClr val="AEAEB2"/>
            </a:solidFill>
            <a:prstDash val="solid"/>
          </a:ln>
        </p:spPr>
      </p:sp>
      <p:sp>
        <p:nvSpPr>
          <p:cNvPr id="74" name="Shape 72"/>
          <p:cNvSpPr/>
          <p:nvPr/>
        </p:nvSpPr>
        <p:spPr>
          <a:xfrm>
            <a:off x="8083296" y="3936492"/>
            <a:ext cx="182880" cy="182880"/>
          </a:xfrm>
          <a:prstGeom prst="ellipse">
            <a:avLst/>
          </a:prstGeom>
          <a:solidFill>
            <a:srgbClr val="AEAEB2"/>
          </a:solidFill>
          <a:ln w="12700">
            <a:solidFill>
              <a:srgbClr val="AEAEB2"/>
            </a:solidFill>
            <a:prstDash val="solid"/>
          </a:ln>
        </p:spPr>
      </p:sp>
      <p:sp>
        <p:nvSpPr>
          <p:cNvPr id="75" name="Shape 73"/>
          <p:cNvSpPr/>
          <p:nvPr/>
        </p:nvSpPr>
        <p:spPr>
          <a:xfrm>
            <a:off x="8476488" y="3936492"/>
            <a:ext cx="182880" cy="182880"/>
          </a:xfrm>
          <a:prstGeom prst="ellipse">
            <a:avLst/>
          </a:prstGeom>
          <a:solidFill>
            <a:srgbClr val="AEAEB2"/>
          </a:solidFill>
          <a:ln w="12700">
            <a:solidFill>
              <a:srgbClr val="AEAEB2"/>
            </a:solidFill>
            <a:prstDash val="solid"/>
          </a:ln>
        </p:spPr>
      </p:sp>
      <p:sp>
        <p:nvSpPr>
          <p:cNvPr id="76" name="Shape 74"/>
          <p:cNvSpPr/>
          <p:nvPr/>
        </p:nvSpPr>
        <p:spPr>
          <a:xfrm>
            <a:off x="4937760" y="4329684"/>
            <a:ext cx="182880" cy="182880"/>
          </a:xfrm>
          <a:prstGeom prst="ellipse">
            <a:avLst/>
          </a:prstGeom>
          <a:solidFill>
            <a:srgbClr val="AEAEB2"/>
          </a:solidFill>
          <a:ln w="12700">
            <a:solidFill>
              <a:srgbClr val="AEAEB2"/>
            </a:solidFill>
            <a:prstDash val="solid"/>
          </a:ln>
        </p:spPr>
      </p:sp>
      <p:sp>
        <p:nvSpPr>
          <p:cNvPr id="77" name="Shape 75"/>
          <p:cNvSpPr/>
          <p:nvPr/>
        </p:nvSpPr>
        <p:spPr>
          <a:xfrm>
            <a:off x="5330952" y="4329684"/>
            <a:ext cx="182880" cy="182880"/>
          </a:xfrm>
          <a:prstGeom prst="ellipse">
            <a:avLst/>
          </a:prstGeom>
          <a:solidFill>
            <a:srgbClr val="AEAEB2"/>
          </a:solidFill>
          <a:ln w="12700">
            <a:solidFill>
              <a:srgbClr val="AEAEB2"/>
            </a:solidFill>
            <a:prstDash val="solid"/>
          </a:ln>
        </p:spPr>
      </p:sp>
      <p:sp>
        <p:nvSpPr>
          <p:cNvPr id="78" name="Shape 76"/>
          <p:cNvSpPr/>
          <p:nvPr/>
        </p:nvSpPr>
        <p:spPr>
          <a:xfrm>
            <a:off x="5724144" y="4329684"/>
            <a:ext cx="182880" cy="182880"/>
          </a:xfrm>
          <a:prstGeom prst="ellipse">
            <a:avLst/>
          </a:prstGeom>
          <a:solidFill>
            <a:srgbClr val="AEAEB2"/>
          </a:solidFill>
          <a:ln w="12700">
            <a:solidFill>
              <a:srgbClr val="AEAEB2"/>
            </a:solidFill>
            <a:prstDash val="solid"/>
          </a:ln>
        </p:spPr>
      </p:sp>
      <p:sp>
        <p:nvSpPr>
          <p:cNvPr id="79" name="Shape 77"/>
          <p:cNvSpPr/>
          <p:nvPr/>
        </p:nvSpPr>
        <p:spPr>
          <a:xfrm>
            <a:off x="6117336" y="4329684"/>
            <a:ext cx="182880" cy="182880"/>
          </a:xfrm>
          <a:prstGeom prst="ellipse">
            <a:avLst/>
          </a:prstGeom>
          <a:solidFill>
            <a:srgbClr val="AEAEB2"/>
          </a:solidFill>
          <a:ln w="12700">
            <a:solidFill>
              <a:srgbClr val="AEAEB2"/>
            </a:solidFill>
            <a:prstDash val="solid"/>
          </a:ln>
        </p:spPr>
      </p:sp>
      <p:sp>
        <p:nvSpPr>
          <p:cNvPr id="80" name="Shape 78"/>
          <p:cNvSpPr/>
          <p:nvPr/>
        </p:nvSpPr>
        <p:spPr>
          <a:xfrm>
            <a:off x="6510528" y="4329684"/>
            <a:ext cx="182880" cy="182880"/>
          </a:xfrm>
          <a:prstGeom prst="ellipse">
            <a:avLst/>
          </a:prstGeom>
          <a:solidFill>
            <a:srgbClr val="AEAEB2"/>
          </a:solidFill>
          <a:ln w="12700">
            <a:solidFill>
              <a:srgbClr val="AEAEB2"/>
            </a:solidFill>
            <a:prstDash val="solid"/>
          </a:ln>
        </p:spPr>
      </p:sp>
      <p:sp>
        <p:nvSpPr>
          <p:cNvPr id="81" name="Shape 79"/>
          <p:cNvSpPr/>
          <p:nvPr/>
        </p:nvSpPr>
        <p:spPr>
          <a:xfrm>
            <a:off x="6903720" y="4329684"/>
            <a:ext cx="182880" cy="182880"/>
          </a:xfrm>
          <a:prstGeom prst="ellipse">
            <a:avLst/>
          </a:prstGeom>
          <a:solidFill>
            <a:srgbClr val="AEAEB2"/>
          </a:solidFill>
          <a:ln w="12700">
            <a:solidFill>
              <a:srgbClr val="AEAEB2"/>
            </a:solidFill>
            <a:prstDash val="solid"/>
          </a:ln>
        </p:spPr>
      </p:sp>
      <p:sp>
        <p:nvSpPr>
          <p:cNvPr id="82" name="Shape 80"/>
          <p:cNvSpPr/>
          <p:nvPr/>
        </p:nvSpPr>
        <p:spPr>
          <a:xfrm>
            <a:off x="7296912" y="4329684"/>
            <a:ext cx="182880" cy="182880"/>
          </a:xfrm>
          <a:prstGeom prst="ellipse">
            <a:avLst/>
          </a:prstGeom>
          <a:solidFill>
            <a:srgbClr val="AEAEB2"/>
          </a:solidFill>
          <a:ln w="12700">
            <a:solidFill>
              <a:srgbClr val="AEAEB2"/>
            </a:solidFill>
            <a:prstDash val="solid"/>
          </a:ln>
        </p:spPr>
      </p:sp>
      <p:sp>
        <p:nvSpPr>
          <p:cNvPr id="83" name="Shape 81"/>
          <p:cNvSpPr/>
          <p:nvPr/>
        </p:nvSpPr>
        <p:spPr>
          <a:xfrm>
            <a:off x="7690104" y="4329684"/>
            <a:ext cx="182880" cy="182880"/>
          </a:xfrm>
          <a:prstGeom prst="ellipse">
            <a:avLst/>
          </a:prstGeom>
          <a:solidFill>
            <a:srgbClr val="AEAEB2"/>
          </a:solidFill>
          <a:ln w="12700">
            <a:solidFill>
              <a:srgbClr val="AEAEB2"/>
            </a:solidFill>
            <a:prstDash val="solid"/>
          </a:ln>
        </p:spPr>
      </p:sp>
      <p:sp>
        <p:nvSpPr>
          <p:cNvPr id="84" name="Shape 82"/>
          <p:cNvSpPr/>
          <p:nvPr/>
        </p:nvSpPr>
        <p:spPr>
          <a:xfrm>
            <a:off x="8083296" y="4329684"/>
            <a:ext cx="182880" cy="182880"/>
          </a:xfrm>
          <a:prstGeom prst="ellipse">
            <a:avLst/>
          </a:prstGeom>
          <a:solidFill>
            <a:srgbClr val="AEAEB2"/>
          </a:solidFill>
          <a:ln w="12700">
            <a:solidFill>
              <a:srgbClr val="AEAEB2"/>
            </a:solidFill>
            <a:prstDash val="solid"/>
          </a:ln>
        </p:spPr>
      </p:sp>
      <p:sp>
        <p:nvSpPr>
          <p:cNvPr id="85" name="Shape 83"/>
          <p:cNvSpPr/>
          <p:nvPr/>
        </p:nvSpPr>
        <p:spPr>
          <a:xfrm>
            <a:off x="8476488" y="4329684"/>
            <a:ext cx="182880" cy="182880"/>
          </a:xfrm>
          <a:prstGeom prst="ellipse">
            <a:avLst/>
          </a:prstGeom>
          <a:solidFill>
            <a:srgbClr val="AEAEB2"/>
          </a:solidFill>
          <a:ln w="12700">
            <a:solidFill>
              <a:srgbClr val="AEAEB2"/>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000000"/>
                </a:solidFill>
                <a:latin typeface="Arial" pitchFamily="34" charset="0"/>
                <a:ea typeface="Arial" pitchFamily="34" charset="-122"/>
                <a:cs typeface="Arial" pitchFamily="34" charset="-120"/>
              </a:rPr>
              <a:t>Segment Results</a:t>
            </a:r>
            <a:endParaRPr lang="en-US" sz="2200" dirty="0"/>
          </a:p>
        </p:txBody>
      </p:sp>
      <p:sp>
        <p:nvSpPr>
          <p:cNvPr id="4" name="Shape 2"/>
          <p:cNvSpPr/>
          <p:nvPr/>
        </p:nvSpPr>
        <p:spPr>
          <a:xfrm>
            <a:off x="320040" y="868680"/>
            <a:ext cx="8503920" cy="3977640"/>
          </a:xfrm>
          <a:prstGeom prst="roundRect">
            <a:avLst>
              <a:gd name="adj" fmla="val 2299"/>
            </a:avLst>
          </a:prstGeom>
          <a:solidFill>
            <a:srgbClr val="F5F5F7"/>
          </a:solidFill>
          <a:ln w="12700">
            <a:solidFill>
              <a:srgbClr val="F5F5F7"/>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188720"/>
                <a:gridCol w="792480"/>
                <a:gridCol w="792480"/>
                <a:gridCol w="792480"/>
                <a:gridCol w="792480"/>
                <a:gridCol w="792480"/>
                <a:gridCol w="792480"/>
                <a:gridCol w="792480"/>
                <a:gridCol w="792480"/>
                <a:gridCol w="792480"/>
              </a:tblGrid>
              <a:tr h="365760">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Q4 22</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Q1 23</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Q2 23</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Q3 23</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Q4 23</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Q1 24</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Q2 24</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Q3 24</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Q4 24</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Product 1</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Product 2</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Product 3</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Total</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10 868,73 €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60 360,00 €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10 868,73 €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60 360,00 €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10 868,73 €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60 360,00 €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10 868,73 €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60 360,00 €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10 868,73 €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r>
              <a:tr h="365760">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Product family</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Product family</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Product family</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Total</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21 737,46 €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71 228,73 €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21 737,46 €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71 228,73 €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21 737,46 €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71 228,73 €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21 737,46 €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71 228,73 €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21 737,46 €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8E8E93"/>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000000"/>
                </a:solidFill>
                <a:latin typeface="Arial" pitchFamily="34" charset="0"/>
                <a:ea typeface="Arial" pitchFamily="34" charset="-122"/>
                <a:cs typeface="Arial" pitchFamily="34" charset="-120"/>
              </a:rPr>
              <a:t>Adjusted Gross Margin</a:t>
            </a:r>
            <a:endParaRPr lang="en-US" sz="2200" dirty="0"/>
          </a:p>
        </p:txBody>
      </p:sp>
      <p:sp>
        <p:nvSpPr>
          <p:cNvPr id="4" name="Shape 2"/>
          <p:cNvSpPr/>
          <p:nvPr/>
        </p:nvSpPr>
        <p:spPr>
          <a:xfrm>
            <a:off x="320040" y="868680"/>
            <a:ext cx="8503920" cy="3977640"/>
          </a:xfrm>
          <a:prstGeom prst="roundRect">
            <a:avLst>
              <a:gd name="adj" fmla="val 2299"/>
            </a:avLst>
          </a:prstGeom>
          <a:solidFill>
            <a:srgbClr val="F5F5F7"/>
          </a:solidFill>
          <a:ln w="12700">
            <a:solidFill>
              <a:srgbClr val="F5F5F7"/>
            </a:solidFill>
            <a:prstDash val="solid"/>
          </a:ln>
        </p:spPr>
      </p:sp>
      <p:graphicFrame>
        <p:nvGraphicFramePr>
          <p:cNvPr id="5" name="Chart 0" descr=""/>
          <p:cNvGraphicFramePr/>
          <p:nvPr/>
        </p:nvGraphicFramePr>
        <p:xfrm>
          <a:off x="411480" y="1005840"/>
          <a:ext cx="832104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000000"/>
                </a:solidFill>
                <a:latin typeface="Arial" pitchFamily="34" charset="0"/>
                <a:ea typeface="Arial" pitchFamily="34" charset="-122"/>
                <a:cs typeface="Arial" pitchFamily="34" charset="-120"/>
              </a:rPr>
              <a:t>Retail</a:t>
            </a:r>
            <a:endParaRPr lang="en-US" sz="2200" dirty="0"/>
          </a:p>
          <a:p>
            <a:pPr indent="0" marL="0">
              <a:lnSpc>
                <a:spcPct val="95000"/>
              </a:lnSpc>
              <a:buNone/>
            </a:pPr>
            <a:r>
              <a:rPr lang="en-US" sz="2200" dirty="0">
                <a:solidFill>
                  <a:srgbClr val="8E8E93"/>
                </a:solidFill>
                <a:latin typeface="Arial" pitchFamily="34" charset="0"/>
                <a:ea typeface="Arial" pitchFamily="34" charset="-122"/>
                <a:cs typeface="Arial" pitchFamily="34" charset="-120"/>
              </a:rPr>
              <a:t>Results</a:t>
            </a:r>
            <a:endParaRPr lang="en-US" sz="2200" dirty="0"/>
          </a:p>
        </p:txBody>
      </p:sp>
      <p:sp>
        <p:nvSpPr>
          <p:cNvPr id="4" name="Text 2"/>
          <p:cNvSpPr txBox="1"/>
          <p:nvPr/>
        </p:nvSpPr>
        <p:spPr>
          <a:xfrm>
            <a:off x="320040" y="2331720"/>
            <a:ext cx="2514600" cy="2560320"/>
          </a:xfrm>
          <a:prstGeom prst="rect">
            <a:avLst/>
          </a:prstGeom>
          <a:noFill/>
          <a:ln/>
        </p:spPr>
        <p:txBody>
          <a:bodyPr wrap="square" lIns="0" tIns="0" rIns="0" bIns="0" rtlCol="0" anchor="t"/>
          <a:lstStyle/>
          <a:p>
            <a:pPr indent="0" marL="0">
              <a:spcAft>
                <a:spcPts val="600"/>
              </a:spcAft>
              <a:buNone/>
            </a:pPr>
            <a:r>
              <a:rPr lang="en-US" sz="750" dirty="0">
                <a:solidFill>
                  <a:srgbClr val="3A3A3C"/>
                </a:solidFill>
                <a:latin typeface="Arial" pitchFamily="34" charset="0"/>
                <a:ea typeface="Arial" pitchFamily="34" charset="-122"/>
                <a:cs typeface="Arial" pitchFamily="34" charset="-120"/>
              </a:rPr>
              <a:t>The chart illustrates the distribution of revenue among our top retail partners, highlighting the significant contribution from Retailer 4, which accounts for the majority share. This strong performance underscores the effectiveness of our strategic partnerships and the impact of our targeted retail strategies.</a:t>
            </a:r>
            <a:endParaRPr lang="en-US" sz="750" dirty="0"/>
          </a:p>
          <a:p>
            <a:pPr indent="0" marL="0">
              <a:spcAft>
                <a:spcPts val="600"/>
              </a:spcAft>
              <a:buNone/>
            </a:pPr>
            <a:r>
              <a:rPr lang="en-US" sz="750" dirty="0">
                <a:solidFill>
                  <a:srgbClr val="3A3A3C"/>
                </a:solidFill>
                <a:latin typeface="Arial" pitchFamily="34" charset="0"/>
                <a:ea typeface="Arial" pitchFamily="34" charset="-122"/>
                <a:cs typeface="Arial" pitchFamily="34" charset="-120"/>
              </a:rPr>
              <a:t>Retailer 1, 2, and 3 also show substantial contributions, reflecting a well-balanced portfolio across our retail channels. This diversification ensures stability and resilience, allowing us to capitalize on various market opportunities while mitigating risks associated with reliance on a single partner.</a:t>
            </a:r>
            <a:endParaRPr lang="en-US" sz="750" dirty="0"/>
          </a:p>
          <a:p>
            <a:pPr indent="0" marL="0">
              <a:spcAft>
                <a:spcPts val="600"/>
              </a:spcAft>
              <a:buNone/>
            </a:pPr>
            <a:r>
              <a:rPr lang="en-US" sz="750" dirty="0">
                <a:solidFill>
                  <a:srgbClr val="3A3A3C"/>
                </a:solidFill>
                <a:latin typeface="Arial" pitchFamily="34" charset="0"/>
                <a:ea typeface="Arial" pitchFamily="34" charset="-122"/>
                <a:cs typeface="Arial" pitchFamily="34" charset="-120"/>
              </a:rPr>
              <a:t>As we continue to strengthen our relationships with these key retailers, we anticipate further growth in each segment, driving overall revenue and expanding our market reach.</a:t>
            </a:r>
            <a:endParaRPr lang="en-US" sz="750" dirty="0"/>
          </a:p>
        </p:txBody>
      </p:sp>
      <p:sp>
        <p:nvSpPr>
          <p:cNvPr id="5" name="Shape 3"/>
          <p:cNvSpPr/>
          <p:nvPr/>
        </p:nvSpPr>
        <p:spPr>
          <a:xfrm>
            <a:off x="3291840" y="228600"/>
            <a:ext cx="5532120" cy="4663440"/>
          </a:xfrm>
          <a:prstGeom prst="roundRect">
            <a:avLst>
              <a:gd name="adj" fmla="val 1961"/>
            </a:avLst>
          </a:prstGeom>
          <a:solidFill>
            <a:srgbClr val="F5F5F7"/>
          </a:solidFill>
          <a:ln w="12700">
            <a:solidFill>
              <a:srgbClr val="F5F5F7"/>
            </a:solidFill>
            <a:prstDash val="solid"/>
          </a:ln>
        </p:spPr>
      </p:sp>
      <p:graphicFrame>
        <p:nvGraphicFramePr>
          <p:cNvPr id="6" name="Chart 0" descr=""/>
          <p:cNvGraphicFramePr/>
          <p:nvPr/>
        </p:nvGraphicFramePr>
        <p:xfrm>
          <a:off x="3840480" y="365760"/>
          <a:ext cx="4434840" cy="39776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000000"/>
                </a:solidFill>
                <a:latin typeface="Arial" pitchFamily="34" charset="0"/>
                <a:ea typeface="Arial" pitchFamily="34" charset="-122"/>
                <a:cs typeface="Arial" pitchFamily="34" charset="-120"/>
              </a:rPr>
              <a:t>Total sales</a:t>
            </a:r>
            <a:endParaRPr lang="en-US" sz="2200" dirty="0"/>
          </a:p>
          <a:p>
            <a:pPr indent="0" marL="0">
              <a:lnSpc>
                <a:spcPct val="95000"/>
              </a:lnSpc>
              <a:buNone/>
            </a:pPr>
            <a:r>
              <a:rPr lang="en-US" sz="2200" dirty="0">
                <a:solidFill>
                  <a:srgbClr val="8E8E93"/>
                </a:solidFill>
                <a:latin typeface="Arial" pitchFamily="34" charset="0"/>
                <a:ea typeface="Arial" pitchFamily="34" charset="-122"/>
                <a:cs typeface="Arial" pitchFamily="34" charset="-120"/>
              </a:rPr>
              <a:t>Q1 – Q4</a:t>
            </a:r>
            <a:endParaRPr lang="en-US" sz="2200" dirty="0"/>
          </a:p>
        </p:txBody>
      </p:sp>
      <p:sp>
        <p:nvSpPr>
          <p:cNvPr id="4" name="Text 2"/>
          <p:cNvSpPr txBox="1"/>
          <p:nvPr/>
        </p:nvSpPr>
        <p:spPr>
          <a:xfrm>
            <a:off x="320040" y="3840480"/>
            <a:ext cx="2514600" cy="1051560"/>
          </a:xfrm>
          <a:prstGeom prst="rect">
            <a:avLst/>
          </a:prstGeom>
          <a:noFill/>
          <a:ln/>
        </p:spPr>
        <p:txBody>
          <a:bodyPr wrap="square" lIns="0" tIns="0" rIns="0" bIns="0" rtlCol="0" anchor="t"/>
          <a:lstStyle/>
          <a:p>
            <a:pPr indent="0" marL="0">
              <a:spcAft>
                <a:spcPts val="600"/>
              </a:spcAft>
              <a:buNone/>
            </a:pPr>
            <a:r>
              <a:rPr lang="en-US" sz="650" dirty="0">
                <a:solidFill>
                  <a:srgbClr val="8E8E93"/>
                </a:solidFill>
                <a:latin typeface="Arial" pitchFamily="34" charset="0"/>
                <a:ea typeface="Arial" pitchFamily="34" charset="-122"/>
                <a:cs typeface="Arial" pitchFamily="34" charset="-120"/>
              </a:rPr>
              <a:t>The bar chart illustrates our total sales progression from Q1 to Q4 across two key segments. We see a steady increase in revenue, with Segment 1 and Segment 2 both contributing to this upward trend. By Q4, total sales reached $440M, driven by strong performance across both segments. This consistent growth reflects the success of our strategies and the robust demand in the market.</a:t>
            </a:r>
            <a:endParaRPr lang="en-US" sz="650" dirty="0"/>
          </a:p>
        </p:txBody>
      </p:sp>
      <p:sp>
        <p:nvSpPr>
          <p:cNvPr id="5" name="Shape 3"/>
          <p:cNvSpPr/>
          <p:nvPr/>
        </p:nvSpPr>
        <p:spPr>
          <a:xfrm>
            <a:off x="3291840" y="228600"/>
            <a:ext cx="5532120" cy="4663440"/>
          </a:xfrm>
          <a:prstGeom prst="roundRect">
            <a:avLst>
              <a:gd name="adj" fmla="val 1961"/>
            </a:avLst>
          </a:prstGeom>
          <a:solidFill>
            <a:srgbClr val="F5F5F7"/>
          </a:solidFill>
          <a:ln w="12700">
            <a:solidFill>
              <a:srgbClr val="F5F5F7"/>
            </a:solidFill>
            <a:prstDash val="solid"/>
          </a:ln>
        </p:spPr>
      </p:sp>
      <p:sp>
        <p:nvSpPr>
          <p:cNvPr id="6" name="Shape 4"/>
          <p:cNvSpPr/>
          <p:nvPr/>
        </p:nvSpPr>
        <p:spPr>
          <a:xfrm>
            <a:off x="3520440" y="393192"/>
            <a:ext cx="91440" cy="91440"/>
          </a:xfrm>
          <a:prstGeom prst="ellipse">
            <a:avLst/>
          </a:prstGeom>
          <a:solidFill>
            <a:srgbClr val="D1D1D6"/>
          </a:solidFill>
          <a:ln w="12700">
            <a:solidFill>
              <a:srgbClr val="D1D1D6"/>
            </a:solidFill>
            <a:prstDash val="solid"/>
          </a:ln>
        </p:spPr>
      </p:sp>
      <p:sp>
        <p:nvSpPr>
          <p:cNvPr id="7" name="Text 5"/>
          <p:cNvSpPr txBox="1"/>
          <p:nvPr/>
        </p:nvSpPr>
        <p:spPr>
          <a:xfrm>
            <a:off x="3675888" y="365760"/>
            <a:ext cx="2011680" cy="146304"/>
          </a:xfrm>
          <a:prstGeom prst="rect">
            <a:avLst/>
          </a:prstGeom>
          <a:noFill/>
          <a:ln/>
        </p:spPr>
        <p:txBody>
          <a:bodyPr wrap="square" lIns="0" tIns="0" rIns="0" bIns="0" rtlCol="0" anchor="ctr"/>
          <a:lstStyle/>
          <a:p>
            <a:pPr indent="0" marL="0">
              <a:buNone/>
            </a:pPr>
            <a:r>
              <a:rPr lang="en-US" sz="650" dirty="0">
                <a:solidFill>
                  <a:srgbClr val="3A3A3C"/>
                </a:solidFill>
                <a:latin typeface="Arial" pitchFamily="34" charset="0"/>
                <a:ea typeface="Arial" pitchFamily="34" charset="-122"/>
                <a:cs typeface="Arial" pitchFamily="34" charset="-120"/>
              </a:rPr>
              <a:t>Segment 1</a:t>
            </a:r>
            <a:endParaRPr lang="en-US" sz="650" dirty="0"/>
          </a:p>
        </p:txBody>
      </p:sp>
      <p:sp>
        <p:nvSpPr>
          <p:cNvPr id="8" name="Shape 6"/>
          <p:cNvSpPr/>
          <p:nvPr/>
        </p:nvSpPr>
        <p:spPr>
          <a:xfrm>
            <a:off x="3520440" y="566928"/>
            <a:ext cx="91440" cy="91440"/>
          </a:xfrm>
          <a:prstGeom prst="ellipse">
            <a:avLst/>
          </a:prstGeom>
          <a:solidFill>
            <a:srgbClr val="AEAEB2"/>
          </a:solidFill>
          <a:ln w="12700">
            <a:solidFill>
              <a:srgbClr val="AEAEB2"/>
            </a:solidFill>
            <a:prstDash val="solid"/>
          </a:ln>
        </p:spPr>
      </p:sp>
      <p:sp>
        <p:nvSpPr>
          <p:cNvPr id="9" name="Text 7"/>
          <p:cNvSpPr txBox="1"/>
          <p:nvPr/>
        </p:nvSpPr>
        <p:spPr>
          <a:xfrm>
            <a:off x="3675888" y="539496"/>
            <a:ext cx="2011680" cy="146304"/>
          </a:xfrm>
          <a:prstGeom prst="rect">
            <a:avLst/>
          </a:prstGeom>
          <a:noFill/>
          <a:ln/>
        </p:spPr>
        <p:txBody>
          <a:bodyPr wrap="square" lIns="0" tIns="0" rIns="0" bIns="0" rtlCol="0" anchor="ctr"/>
          <a:lstStyle/>
          <a:p>
            <a:pPr indent="0" marL="0">
              <a:buNone/>
            </a:pPr>
            <a:r>
              <a:rPr lang="en-US" sz="650" dirty="0">
                <a:solidFill>
                  <a:srgbClr val="3A3A3C"/>
                </a:solidFill>
                <a:latin typeface="Arial" pitchFamily="34" charset="0"/>
                <a:ea typeface="Arial" pitchFamily="34" charset="-122"/>
                <a:cs typeface="Arial" pitchFamily="34" charset="-120"/>
              </a:rPr>
              <a:t>Segment 2</a:t>
            </a:r>
            <a:endParaRPr lang="en-US" sz="650" dirty="0"/>
          </a:p>
        </p:txBody>
      </p:sp>
      <p:graphicFrame>
        <p:nvGraphicFramePr>
          <p:cNvPr id="10" name="Chart 0" descr=""/>
          <p:cNvGraphicFramePr/>
          <p:nvPr/>
        </p:nvGraphicFramePr>
        <p:xfrm>
          <a:off x="3383280" y="777240"/>
          <a:ext cx="5349240" cy="39776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000000"/>
                </a:solidFill>
                <a:latin typeface="Arial" pitchFamily="34" charset="0"/>
                <a:ea typeface="Arial" pitchFamily="34" charset="-122"/>
                <a:cs typeface="Arial" pitchFamily="34" charset="-120"/>
              </a:rPr>
              <a:t>Adjusted Free</a:t>
            </a:r>
            <a:endParaRPr lang="en-US" sz="2200" dirty="0"/>
          </a:p>
          <a:p>
            <a:pPr indent="0" marL="0">
              <a:lnSpc>
                <a:spcPct val="95000"/>
              </a:lnSpc>
              <a:buNone/>
            </a:pPr>
            <a:r>
              <a:rPr lang="en-US" sz="2200" dirty="0">
                <a:solidFill>
                  <a:srgbClr val="000000"/>
                </a:solidFill>
                <a:latin typeface="Arial" pitchFamily="34" charset="0"/>
                <a:ea typeface="Arial" pitchFamily="34" charset="-122"/>
                <a:cs typeface="Arial" pitchFamily="34" charset="-120"/>
              </a:rPr>
              <a:t>Cash Flow</a:t>
            </a:r>
            <a:endParaRPr lang="en-US" sz="2200" dirty="0"/>
          </a:p>
        </p:txBody>
      </p:sp>
      <p:sp>
        <p:nvSpPr>
          <p:cNvPr id="4" name="Text 2"/>
          <p:cNvSpPr txBox="1"/>
          <p:nvPr/>
        </p:nvSpPr>
        <p:spPr>
          <a:xfrm>
            <a:off x="320040" y="1280160"/>
            <a:ext cx="2651760" cy="1463040"/>
          </a:xfrm>
          <a:prstGeom prst="rect">
            <a:avLst/>
          </a:prstGeom>
          <a:noFill/>
          <a:ln/>
        </p:spPr>
        <p:txBody>
          <a:bodyPr wrap="square" lIns="0" tIns="0" rIns="0" bIns="0" rtlCol="0" anchor="t"/>
          <a:lstStyle/>
          <a:p>
            <a:pPr indent="0" marL="0">
              <a:buNone/>
            </a:pPr>
            <a:r>
              <a:rPr lang="en-US" sz="950" dirty="0">
                <a:solidFill>
                  <a:srgbClr val="8E8E93"/>
                </a:solidFill>
                <a:latin typeface="Arial" pitchFamily="34" charset="0"/>
                <a:ea typeface="Arial" pitchFamily="34" charset="-122"/>
                <a:cs typeface="Arial" pitchFamily="34" charset="-120"/>
              </a:rPr>
              <a:t>We closed Q1 2023 with $480 million in cash, cash equivalents, and U.S. Treasury securities, maintaining a debt-free position. As of March 31, 2023, we also had $150 million in undrawn credit facilities readily available.</a:t>
            </a:r>
            <a:endParaRPr lang="en-US" sz="950" dirty="0"/>
          </a:p>
        </p:txBody>
      </p:sp>
      <p:sp>
        <p:nvSpPr>
          <p:cNvPr id="5" name="Shape 3"/>
          <p:cNvSpPr/>
          <p:nvPr/>
        </p:nvSpPr>
        <p:spPr>
          <a:xfrm>
            <a:off x="3291840" y="228600"/>
            <a:ext cx="5532120" cy="4663440"/>
          </a:xfrm>
          <a:prstGeom prst="roundRect">
            <a:avLst>
              <a:gd name="adj" fmla="val 1961"/>
            </a:avLst>
          </a:prstGeom>
          <a:solidFill>
            <a:srgbClr val="F5F5F7"/>
          </a:solidFill>
          <a:ln w="12700">
            <a:solidFill>
              <a:srgbClr val="F5F5F7"/>
            </a:solidFill>
            <a:prstDash val="solid"/>
          </a:ln>
        </p:spPr>
      </p:sp>
      <p:sp>
        <p:nvSpPr>
          <p:cNvPr id="6" name="Text 4"/>
          <p:cNvSpPr txBox="1"/>
          <p:nvPr/>
        </p:nvSpPr>
        <p:spPr>
          <a:xfrm>
            <a:off x="3474720" y="365760"/>
            <a:ext cx="2468880" cy="182880"/>
          </a:xfrm>
          <a:prstGeom prst="rect">
            <a:avLst/>
          </a:prstGeom>
          <a:noFill/>
          <a:ln/>
        </p:spPr>
        <p:txBody>
          <a:bodyPr wrap="square" lIns="0" tIns="0" rIns="0" bIns="0" rtlCol="0" anchor="ctr"/>
          <a:lstStyle/>
          <a:p>
            <a:pPr indent="0" marL="0">
              <a:buNone/>
            </a:pPr>
            <a:r>
              <a:rPr lang="en-US" sz="650" dirty="0">
                <a:solidFill>
                  <a:srgbClr val="8E8E93"/>
                </a:solidFill>
                <a:latin typeface="Arial" pitchFamily="34" charset="0"/>
                <a:ea typeface="Arial" pitchFamily="34" charset="-122"/>
                <a:cs typeface="Arial" pitchFamily="34" charset="-120"/>
              </a:rPr>
              <a:t>Cash from operations</a:t>
            </a:r>
            <a:endParaRPr lang="en-US" sz="650" dirty="0"/>
          </a:p>
        </p:txBody>
      </p:sp>
      <p:graphicFrame>
        <p:nvGraphicFramePr>
          <p:cNvPr id="7" name="Chart 0" descr=""/>
          <p:cNvGraphicFramePr/>
          <p:nvPr/>
        </p:nvGraphicFramePr>
        <p:xfrm>
          <a:off x="3337560" y="640080"/>
          <a:ext cx="2697480" cy="41148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062472" y="411480"/>
            <a:ext cx="0" cy="4297680"/>
          </a:xfrm>
          <a:prstGeom prst="line">
            <a:avLst/>
          </a:prstGeom>
          <a:noFill/>
          <a:ln w="6350">
            <a:solidFill>
              <a:srgbClr val="C7C7CC"/>
            </a:solidFill>
            <a:prstDash val="sysDot"/>
          </a:ln>
        </p:spPr>
      </p:sp>
      <p:sp>
        <p:nvSpPr>
          <p:cNvPr id="9" name="Text 6"/>
          <p:cNvSpPr txBox="1"/>
          <p:nvPr/>
        </p:nvSpPr>
        <p:spPr>
          <a:xfrm>
            <a:off x="6263640" y="365760"/>
            <a:ext cx="2468880" cy="182880"/>
          </a:xfrm>
          <a:prstGeom prst="rect">
            <a:avLst/>
          </a:prstGeom>
          <a:noFill/>
          <a:ln/>
        </p:spPr>
        <p:txBody>
          <a:bodyPr wrap="square" lIns="0" tIns="0" rIns="0" bIns="0" rtlCol="0" anchor="ctr"/>
          <a:lstStyle/>
          <a:p>
            <a:pPr indent="0" marL="0">
              <a:buNone/>
            </a:pPr>
            <a:r>
              <a:rPr lang="en-US" sz="650" dirty="0">
                <a:solidFill>
                  <a:srgbClr val="8E8E93"/>
                </a:solidFill>
                <a:latin typeface="Arial" pitchFamily="34" charset="0"/>
                <a:ea typeface="Arial" pitchFamily="34" charset="-122"/>
                <a:cs typeface="Arial" pitchFamily="34" charset="-120"/>
              </a:rPr>
              <a:t>Adjusted free cash flow</a:t>
            </a:r>
            <a:endParaRPr lang="en-US" sz="650" dirty="0"/>
          </a:p>
        </p:txBody>
      </p:sp>
      <p:graphicFrame>
        <p:nvGraphicFramePr>
          <p:cNvPr id="10" name="Chart 1" descr=""/>
          <p:cNvGraphicFramePr/>
          <p:nvPr/>
        </p:nvGraphicFramePr>
        <p:xfrm>
          <a:off x="6126480" y="640080"/>
          <a:ext cx="2697480" cy="411480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000000"/>
                </a:solidFill>
                <a:latin typeface="Arial" pitchFamily="34" charset="0"/>
                <a:ea typeface="Arial" pitchFamily="34" charset="-122"/>
                <a:cs typeface="Arial" pitchFamily="34" charset="-120"/>
              </a:rPr>
              <a:t>US business performance</a:t>
            </a:r>
            <a:endParaRPr lang="en-US" sz="2200" dirty="0"/>
          </a:p>
        </p:txBody>
      </p:sp>
      <p:sp>
        <p:nvSpPr>
          <p:cNvPr id="4" name="Shape 2"/>
          <p:cNvSpPr/>
          <p:nvPr/>
        </p:nvSpPr>
        <p:spPr>
          <a:xfrm>
            <a:off x="320040" y="868680"/>
            <a:ext cx="4114800" cy="4023360"/>
          </a:xfrm>
          <a:prstGeom prst="roundRect">
            <a:avLst>
              <a:gd name="adj" fmla="val 2273"/>
            </a:avLst>
          </a:prstGeom>
          <a:solidFill>
            <a:srgbClr val="F5F5F7"/>
          </a:solidFill>
          <a:ln w="12700">
            <a:solidFill>
              <a:srgbClr val="F5F5F7"/>
            </a:solidFill>
            <a:prstDash val="solid"/>
          </a:ln>
        </p:spPr>
      </p:sp>
      <p:sp>
        <p:nvSpPr>
          <p:cNvPr id="5" name="Text 3"/>
          <p:cNvSpPr txBox="1"/>
          <p:nvPr/>
        </p:nvSpPr>
        <p:spPr>
          <a:xfrm>
            <a:off x="502920" y="1005840"/>
            <a:ext cx="3749040" cy="365760"/>
          </a:xfrm>
          <a:prstGeom prst="rect">
            <a:avLst/>
          </a:prstGeom>
          <a:noFill/>
          <a:ln/>
        </p:spPr>
        <p:txBody>
          <a:bodyPr wrap="square" lIns="0" tIns="0" rIns="0" bIns="0" rtlCol="0" anchor="t"/>
          <a:lstStyle/>
          <a:p>
            <a:pPr indent="0" marL="0">
              <a:buNone/>
            </a:pPr>
            <a:r>
              <a:rPr lang="en-US" sz="750" dirty="0">
                <a:solidFill>
                  <a:srgbClr val="8E8E93"/>
                </a:solidFill>
                <a:latin typeface="Arial" pitchFamily="34" charset="0"/>
                <a:ea typeface="Arial" pitchFamily="34" charset="-122"/>
                <a:cs typeface="Arial" pitchFamily="34" charset="-120"/>
              </a:rPr>
              <a:t>US business performance</a:t>
            </a:r>
            <a:endParaRPr lang="en-US" sz="750" dirty="0"/>
          </a:p>
          <a:p>
            <a:pPr indent="0" marL="0">
              <a:buNone/>
            </a:pPr>
            <a:r>
              <a:rPr lang="en-US" sz="750" b="1" dirty="0">
                <a:solidFill>
                  <a:srgbClr val="000000"/>
                </a:solidFill>
                <a:latin typeface="Arial" pitchFamily="34" charset="0"/>
                <a:ea typeface="Arial" pitchFamily="34" charset="-122"/>
                <a:cs typeface="Arial" pitchFamily="34" charset="-120"/>
              </a:rPr>
              <a:t>Retail revenue growth</a:t>
            </a:r>
            <a:endParaRPr lang="en-US" sz="750" dirty="0"/>
          </a:p>
        </p:txBody>
      </p:sp>
      <p:graphicFrame>
        <p:nvGraphicFramePr>
          <p:cNvPr id="6" name="Chart 0" descr=""/>
          <p:cNvGraphicFramePr/>
          <p:nvPr/>
        </p:nvGraphicFramePr>
        <p:xfrm>
          <a:off x="411480" y="1508760"/>
          <a:ext cx="393192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709160" y="868680"/>
            <a:ext cx="4114800" cy="4023360"/>
          </a:xfrm>
          <a:prstGeom prst="roundRect">
            <a:avLst>
              <a:gd name="adj" fmla="val 2273"/>
            </a:avLst>
          </a:prstGeom>
          <a:solidFill>
            <a:srgbClr val="F5F5F7"/>
          </a:solidFill>
          <a:ln w="12700">
            <a:solidFill>
              <a:srgbClr val="F5F5F7"/>
            </a:solidFill>
            <a:prstDash val="solid"/>
          </a:ln>
        </p:spPr>
      </p:sp>
      <p:sp>
        <p:nvSpPr>
          <p:cNvPr id="8" name="Text 5"/>
          <p:cNvSpPr txBox="1"/>
          <p:nvPr/>
        </p:nvSpPr>
        <p:spPr>
          <a:xfrm>
            <a:off x="4892040" y="1005840"/>
            <a:ext cx="3749040" cy="365760"/>
          </a:xfrm>
          <a:prstGeom prst="rect">
            <a:avLst/>
          </a:prstGeom>
          <a:noFill/>
          <a:ln/>
        </p:spPr>
        <p:txBody>
          <a:bodyPr wrap="square" lIns="0" tIns="0" rIns="0" bIns="0" rtlCol="0" anchor="t"/>
          <a:lstStyle/>
          <a:p>
            <a:pPr indent="0" marL="0">
              <a:buNone/>
            </a:pPr>
            <a:r>
              <a:rPr lang="en-US" sz="750" dirty="0">
                <a:solidFill>
                  <a:srgbClr val="8E8E93"/>
                </a:solidFill>
                <a:latin typeface="Arial" pitchFamily="34" charset="0"/>
                <a:ea typeface="Arial" pitchFamily="34" charset="-122"/>
                <a:cs typeface="Arial" pitchFamily="34" charset="-120"/>
              </a:rPr>
              <a:t>US business performance</a:t>
            </a:r>
            <a:endParaRPr lang="en-US" sz="750" dirty="0"/>
          </a:p>
          <a:p>
            <a:pPr indent="0" marL="0">
              <a:buNone/>
            </a:pPr>
            <a:r>
              <a:rPr lang="en-US" sz="750" b="1" dirty="0">
                <a:solidFill>
                  <a:srgbClr val="000000"/>
                </a:solidFill>
                <a:latin typeface="Arial" pitchFamily="34" charset="0"/>
                <a:ea typeface="Arial" pitchFamily="34" charset="-122"/>
                <a:cs typeface="Arial" pitchFamily="34" charset="-120"/>
              </a:rPr>
              <a:t>E-commerce revenue growth</a:t>
            </a:r>
            <a:endParaRPr lang="en-US" sz="750" dirty="0"/>
          </a:p>
        </p:txBody>
      </p:sp>
      <p:graphicFrame>
        <p:nvGraphicFramePr>
          <p:cNvPr id="9" name="Chart 1" descr=""/>
          <p:cNvGraphicFramePr/>
          <p:nvPr/>
        </p:nvGraphicFramePr>
        <p:xfrm>
          <a:off x="4800600" y="1508760"/>
          <a:ext cx="3931920" cy="329184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274320"/>
            <a:ext cx="7315200" cy="73152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Appendix</a:t>
            </a:r>
            <a:endParaRPr lang="en-US" sz="3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Appendix</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000000"/>
                </a:solidFill>
                <a:latin typeface="Arial" pitchFamily="34" charset="0"/>
                <a:ea typeface="Arial" pitchFamily="34" charset="-122"/>
                <a:cs typeface="Arial" pitchFamily="34" charset="-120"/>
              </a:rPr>
              <a:t>Additional Metrics and Notes</a:t>
            </a:r>
            <a:endParaRPr lang="en-US" sz="2200" dirty="0"/>
          </a:p>
        </p:txBody>
      </p:sp>
      <p:sp>
        <p:nvSpPr>
          <p:cNvPr id="4" name="Shape 2"/>
          <p:cNvSpPr/>
          <p:nvPr/>
        </p:nvSpPr>
        <p:spPr>
          <a:xfrm>
            <a:off x="320040" y="868680"/>
            <a:ext cx="8503920" cy="3977640"/>
          </a:xfrm>
          <a:prstGeom prst="roundRect">
            <a:avLst>
              <a:gd name="adj" fmla="val 2299"/>
            </a:avLst>
          </a:prstGeom>
          <a:solidFill>
            <a:srgbClr val="F5F5F7"/>
          </a:solidFill>
          <a:ln w="12700">
            <a:solidFill>
              <a:srgbClr val="F5F5F7"/>
            </a:solidFill>
            <a:prstDash val="solid"/>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188720"/>
                <a:gridCol w="792480"/>
                <a:gridCol w="792480"/>
                <a:gridCol w="792480"/>
                <a:gridCol w="792480"/>
                <a:gridCol w="792480"/>
                <a:gridCol w="792480"/>
                <a:gridCol w="792480"/>
                <a:gridCol w="792480"/>
                <a:gridCol w="792480"/>
              </a:tblGrid>
              <a:tr h="365760">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Q4 22</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Q1 23</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Q2 23</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Q3 23</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Q4 23</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Q1 24</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Q2 24</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Q3 24</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Q4 24</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Total RPO</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Short-Term RPO</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Long-Term RPO</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r>
                        <a:rPr lang="en-US" sz="550" b="1" dirty="0">
                          <a:solidFill>
                            <a:srgbClr val="000000"/>
                          </a:solidFill>
                          <a:latin typeface="Arial" pitchFamily="34" charset="0"/>
                          <a:ea typeface="Arial" pitchFamily="34" charset="-122"/>
                          <a:cs typeface="Arial" pitchFamily="34" charset="-120"/>
                        </a:rPr>
                        <a:t>Stock-Based Compensation</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r>
                        <a:rPr lang="en-US" sz="550" dirty="0">
                          <a:solidFill>
                            <a:srgbClr val="3A3A3C"/>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5F5F7"/>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report template (light)</dc:title>
  <dc:subject>PptxGenJS Presentation</dc:subject>
  <dc:creator>namecode</dc:creator>
  <cp:lastModifiedBy>namecode</cp:lastModifiedBy>
  <cp:revision>1</cp:revision>
  <dcterms:created xsi:type="dcterms:W3CDTF">2026-09-18T18:01:14Z</dcterms:created>
  <dcterms:modified xsi:type="dcterms:W3CDTF">2026-09-18T18:01:14Z</dcterms:modified>
</cp:coreProperties>
</file>